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40">
                <a:solidFill>
                  <a:srgbClr val="2A78D6"/>
                </a:solidFill>
                <a:latin typeface="Malgun Gothic"/>
              </a:rPr>
              <a:t>SNU AI CHALLENGE 2026 · 예선 제출 자료 · VER11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 i="0">
                <a:solidFill>
                  <a:srgbClr val="14140F"/>
                </a:solidFill>
                <a:latin typeface="Malgun Gothic"/>
              </a:rPr>
              <a:t>FitPrune 기반 캡션-조건부 토큰 프루닝과 Stackelberg 학습으로 푸는 4프레임 시간순 재배열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544C"/>
                </a:solidFill>
                <a:latin typeface="Malgun Gothic"/>
              </a:rPr>
              <a:t>전체 방법론 및 모델 구조 — 4! = 24 순열 분류를 위한 효율적 VLM 파인튜닝 &amp; 추론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6847A"/>
                </a:solidFill>
                <a:latin typeface="Malgun Gothic"/>
              </a:rPr>
              <a:t>1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47088"/>
            <a:ext cx="208483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/>
          <a:lstStyle/>
          <a:p>
            <a:pPr algn="ctr"/>
            <a:r>
              <a:rPr sz="1700" b="1" i="0">
                <a:solidFill>
                  <a:srgbClr val="2A78D6"/>
                </a:solidFill>
                <a:latin typeface="Malgun Gothic"/>
              </a:rPr>
              <a:t>32B / 4bit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5544C"/>
                </a:solidFill>
                <a:latin typeface="Malgun Gothic"/>
              </a:rPr>
              <a:t>base: Qwen3-VL-32B-Instruct
(unsloth bnb-4bit)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6352" y="1847088"/>
            <a:ext cx="208483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/>
          <a:lstStyle/>
          <a:p>
            <a:pPr algn="ctr"/>
            <a:r>
              <a:rPr sz="1700" b="1" i="0">
                <a:solidFill>
                  <a:srgbClr val="2A78D6"/>
                </a:solidFill>
                <a:latin typeface="Malgun Gothic"/>
              </a:rPr>
              <a:t>50%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5544C"/>
                </a:solidFill>
                <a:latin typeface="Malgun Gothic"/>
              </a:rPr>
              <a:t>캡션-교차 FitPrune
비주얼 토큰 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847088"/>
            <a:ext cx="208483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/>
          <a:lstStyle/>
          <a:p>
            <a:pPr algn="ctr"/>
            <a:r>
              <a:rPr sz="1700" b="1" i="0">
                <a:solidFill>
                  <a:srgbClr val="2A78D6"/>
                </a:solidFill>
                <a:latin typeface="Malgun Gothic"/>
              </a:rPr>
              <a:t>24-way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5544C"/>
                </a:solidFill>
                <a:latin typeface="Malgun Gothic"/>
              </a:rPr>
              <a:t>one-pass score24
분류 헤드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51775" y="1847088"/>
            <a:ext cx="208483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/>
          <a:lstStyle/>
          <a:p>
            <a:pPr algn="ctr"/>
            <a:r>
              <a:rPr sz="1700" b="1" i="0">
                <a:solidFill>
                  <a:srgbClr val="2A78D6"/>
                </a:solidFill>
                <a:latin typeface="Malgun Gothic"/>
              </a:rPr>
              <a:t>TTA×8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5544C"/>
                </a:solidFill>
                <a:latin typeface="Malgun Gothic"/>
              </a:rPr>
              <a:t>균형 8뷰 + stage-2
풀토큰 재검증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9488" y="1847088"/>
            <a:ext cx="2084831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/>
          <a:lstStyle/>
          <a:p>
            <a:pPr algn="ctr"/>
            <a:r>
              <a:rPr sz="1700" b="1" i="0">
                <a:solidFill>
                  <a:srgbClr val="1BAF7A"/>
                </a:solidFill>
                <a:latin typeface="Malgun Gothic"/>
              </a:rPr>
              <a:t>0.9302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5544C"/>
                </a:solidFill>
                <a:latin typeface="Malgun Gothic"/>
              </a:rPr>
              <a:t>실LB — 대회 챔피언과
공개 573그리드 동점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950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5544C"/>
                </a:solidFill>
                <a:latin typeface="Malgun Gothic"/>
              </a:rPr>
              <a:t>전체 파이프라인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63824"/>
            <a:ext cx="2569463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032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273552"/>
            <a:ext cx="2313431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Malgun Gothic"/>
              </a:rPr>
              <a:t>① 입력 &amp; 프루닝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4140F"/>
                </a:solidFill>
                <a:latin typeface="Malgun Gothic"/>
              </a:rPr>
              <a:t>셔플 프레임 4장 + 캡션 → Cross-Targeted FitPrune(4×4 이벤트-프레임 교차 스코어링, 캡션코사인+객체성+모션 블렌드)로 이미지당 비주얼 토큰 50% 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7" y="37353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86847A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1" y="3163824"/>
            <a:ext cx="2569463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032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7" y="3273552"/>
            <a:ext cx="2313431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Malgun Gothic"/>
              </a:rPr>
              <a:t>② 학습 (Stackelberg QLoRA)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4140F"/>
                </a:solidFill>
                <a:latin typeface="Malgun Gothic"/>
              </a:rPr>
              <a:t>Ver8 챔피언 어댑터 warm-start → body/head 분리 학습률(2-시간축) + 기대-Kendall 보조손실로 SFT, train 9,535건 전량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19" y="37353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86847A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3" y="3163824"/>
            <a:ext cx="2569463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032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799" y="3273552"/>
            <a:ext cx="2313431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B6834"/>
                </a:solidFill>
                <a:latin typeface="Malgun Gothic"/>
              </a:rPr>
              <a:t>③ score24 헤드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4140F"/>
                </a:solidFill>
                <a:latin typeface="Malgun Gothic"/>
              </a:rPr>
              <a:t>lm_head 24-glyph row 초기화 → 24클래스 one-pass 분류(autoregressive 순열 생성 회피)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1" y="37353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86847A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5" y="3163824"/>
            <a:ext cx="2569463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032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3273552"/>
            <a:ext cx="2313431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Malgun Gothic"/>
              </a:rPr>
              <a:t>④ 추론 (TTA + Stage-2)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4140F"/>
                </a:solidFill>
                <a:latin typeface="Malgun Gothic"/>
              </a:rPr>
              <a:t>균형 8뷰 TTA(Klein→Sylow-2 코셋)로 슬롯 편향 상쇄 + 전 샘플 풀토큰 stage-2 재검증, motion=0.3 최종 채택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18304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5544C"/>
                </a:solidFill>
                <a:latin typeface="Malgun Gothic"/>
              </a:rPr>
              <a:t>이 트랙이 실증한 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3596640" cy="105156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138928"/>
            <a:ext cx="3267456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4140F"/>
                </a:solidFill>
                <a:latin typeface="Malgun Gothic"/>
              </a:rPr>
              <a:t>진단 → 설계 루프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44C"/>
                </a:solidFill>
                <a:latin typeface="Malgun Gothic"/>
              </a:rPr>
              <a:t>"캡션 없이 이미지만으로 정답률 5배" 진단에서 모션 신호 도입까지, 매 확장을 저비용 실측으로 정당화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8159" y="5029200"/>
            <a:ext cx="3596640" cy="105156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2751" y="5138928"/>
            <a:ext cx="3267456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4140F"/>
                </a:solidFill>
                <a:latin typeface="Malgun Gothic"/>
              </a:rPr>
              <a:t>정직한 ablation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44C"/>
                </a:solidFill>
                <a:latin typeface="Malgun Gothic"/>
              </a:rPr>
              <a:t>그럴듯해 보인 DPO 확장을 두 차례 모두 실측 EM 하락으로 기각 — in-sample 아닌 실제 test+실LB로만 채택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7679" y="5029200"/>
            <a:ext cx="3596640" cy="1051560"/>
          </a:xfrm>
          <a:prstGeom prst="roundRect">
            <a:avLst>
              <a:gd name="adj" fmla="val 8000"/>
            </a:avLst>
          </a:prstGeom>
          <a:solidFill>
            <a:srgbClr val="E4F7EF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2271" y="5138928"/>
            <a:ext cx="3267456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D7F57"/>
                </a:solidFill>
                <a:latin typeface="Malgun Gothic"/>
              </a:rPr>
              <a:t>챔피언과 동점 달성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44C"/>
                </a:solidFill>
                <a:latin typeface="Malgun Gothic"/>
              </a:rPr>
              <a:t>Ver10 비상속 독립 구현으로 실LB 0.93019 — 대회 챔피언과 공개 그리드 완전 동점(최종은 비공개 30%로 결정)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6847A"/>
                </a:solidFill>
                <a:latin typeface="Malgun Gothic"/>
              </a:rPr>
              <a:t>Ver11 · 독립 구현(Ver10 비상속) · 로컬 검증(4090) + A100 본런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40">
                <a:solidFill>
                  <a:srgbClr val="2A78D6"/>
                </a:solidFill>
                <a:latin typeface="Malgun Gothic"/>
              </a:rPr>
              <a:t>02 · MOTIVATION &amp;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14140F"/>
                </a:solidFill>
                <a:latin typeface="Malgun Gothic"/>
              </a:rPr>
              <a:t>왜 이 접근인가 — 진단에서 출발한 4가지 핵심 기여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544C"/>
                </a:solidFill>
                <a:latin typeface="Malgun Gothic"/>
              </a:rPr>
              <a:t>"모델·기법을 나열"하지 않고, 각 설계 선택이 어떤 실측 문제를 겨냥했는지로 정리한다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6847A"/>
                </a:solidFill>
                <a:latin typeface="Malgun Gothic"/>
              </a:rPr>
              <a:t>2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56231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8424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문제 진단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1956816"/>
            <a:ext cx="97932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140F"/>
                </a:solidFill>
                <a:latin typeface="Malgun Gothic"/>
              </a:rPr>
              <a:t>표준 접근의 두 가지 실측 결함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13432"/>
            <a:ext cx="1070762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50" b="1" i="0">
                <a:solidFill>
                  <a:srgbClr val="14140F"/>
                </a:solidFill>
                <a:latin typeface="Malgun Gothic"/>
              </a:rPr>
              <a:t>연산 낭비</a:t>
            </a:r>
            <a:r>
              <a:rPr sz="1050" b="0" i="0">
                <a:solidFill>
                  <a:srgbClr val="14140F"/>
                </a:solidFill>
                <a:latin typeface="Malgun Gothic"/>
              </a:rPr>
              <a:t>: 전체 비주얼 토큰 + autoregressive 24-토큰 순열 생성은 4프레임×고해상도 입력에서 비용이 크다 — 24시간 추론 예산(대회 규정)과 24GB급 서빙 카드 제약을 동시에 압박한다.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50" b="1" i="0">
                <a:solidFill>
                  <a:srgbClr val="14140F"/>
                </a:solidFill>
                <a:latin typeface="Malgun Gothic"/>
              </a:rPr>
              <a:t>정보 오배분</a:t>
            </a:r>
            <a:r>
              <a:rPr sz="1050" b="0" i="0">
                <a:solidFill>
                  <a:srgbClr val="14140F"/>
                </a:solidFill>
                <a:latin typeface="Malgun Gothic"/>
              </a:rPr>
              <a:t>: 캡션-코사인만으로 프루닝하면 캡션 장면명사와 매칭되는 대면적 배경이 예산을 독식하고, 순서 판별의 실제 단서(소형 전경 물체·인물 자세)가 잘려나간다(</a:t>
            </a:r>
            <a:r>
              <a:rPr sz="900" b="0" i="0">
                <a:solidFill>
                  <a:srgbClr val="55544C"/>
                </a:solidFill>
                <a:latin typeface="Consolas"/>
              </a:rPr>
              <a:t>stuff-over-things</a:t>
            </a:r>
            <a:r>
              <a:rPr sz="1050" b="0" i="0">
                <a:solidFill>
                  <a:srgbClr val="14140F"/>
                </a:solidFill>
                <a:latin typeface="Malgun Gothic"/>
              </a:rPr>
              <a:t>). 이어진 진단에서 </a:t>
            </a:r>
            <a:r>
              <a:rPr sz="1050" b="1" i="0">
                <a:solidFill>
                  <a:srgbClr val="14140F"/>
                </a:solidFill>
                <a:latin typeface="Malgun Gothic"/>
              </a:rPr>
              <a:t>캡션 없이 이미지만으로도 정답률이 랜덤(4.2%)의 5배(21%)</a:t>
            </a:r>
            <a:r>
              <a:rPr sz="1050" b="0" i="0">
                <a:solidFill>
                  <a:srgbClr val="14140F"/>
                </a:solidFill>
                <a:latin typeface="Malgun Gothic"/>
              </a:rPr>
              <a:t>로 나와, 캡션-무관 시각 신호 자체에 상당한 순서 정보가 있음이 확인됐다.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73552"/>
            <a:ext cx="5431536" cy="16916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40156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기여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3374136"/>
            <a:ext cx="41330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140F"/>
                </a:solidFill>
                <a:latin typeface="Malgun Gothic"/>
              </a:rPr>
              <a:t>3-way 블렌드 FitPrune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1336" y="3730752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684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6" y="3730752"/>
            <a:ext cx="1691639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86847A"/>
                </a:solidFill>
                <a:latin typeface="Malgun Gothic"/>
              </a:rPr>
              <a:t>그림 자리</a:t>
            </a:r>
          </a:p>
          <a:p>
            <a:pPr algn="ctr">
              <a:lnSpc>
                <a:spcPct val="120000"/>
              </a:lnSpc>
            </a:pPr>
            <a:r>
              <a:rPr sz="850" b="0" i="1">
                <a:solidFill>
                  <a:srgbClr val="86847A"/>
                </a:solidFill>
                <a:latin typeface="Malgun Gothic"/>
              </a:rPr>
              <a:t>FitPrune kept(파랑)/pruned(회색)/
boost(주황) 시각화
runs/prune_viz_boost/*.png
(준비 중)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30752"/>
            <a:ext cx="2916936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969" b="0" i="0">
                <a:solidFill>
                  <a:srgbClr val="14140F"/>
                </a:solidFill>
                <a:latin typeface="Malgun Gothic"/>
              </a:rPr>
              <a:t>캡션-코사인(own-mean 센터링) + 객체성(centroid-residual norm) + 모션(프레임간 동일격자 residual, </a:t>
            </a:r>
            <a:r>
              <a:rPr sz="969" b="1" i="0">
                <a:solidFill>
                  <a:srgbClr val="14140F"/>
                </a:solidFill>
                <a:latin typeface="Malgun Gothic"/>
              </a:rPr>
              <a:t>진단으로 검증된 상보적 신호</a:t>
            </a:r>
            <a:r>
              <a:rPr sz="969" b="0" i="0">
                <a:solidFill>
                  <a:srgbClr val="14140F"/>
                </a:solidFill>
                <a:latin typeface="Malgun Gothic"/>
              </a:rPr>
              <a:t> — 객체성과 spearman +0.693, 캡션-코사인과는 +0.011)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969" b="0" i="0">
                <a:solidFill>
                  <a:srgbClr val="14140F"/>
                </a:solidFill>
                <a:latin typeface="Malgun Gothic"/>
              </a:rPr>
              <a:t>MMR(λ=0.5) greedy 선택으로 중복 배경 압축, 예산을 novel 토큰에 재배분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3273552"/>
            <a:ext cx="5431536" cy="16916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91656" y="340156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기여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4" y="3374136"/>
            <a:ext cx="41330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140F"/>
                </a:solidFill>
                <a:latin typeface="Malgun Gothic"/>
              </a:rPr>
              <a:t>One-pass score24 헤드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730752"/>
            <a:ext cx="5047488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50" b="0" i="0">
                <a:solidFill>
                  <a:srgbClr val="14140F"/>
                </a:solidFill>
                <a:latin typeface="Malgun Gothic"/>
              </a:rPr>
              <a:t>24개 순열을 autoregressive로 생성하지 않고 </a:t>
            </a:r>
            <a:r>
              <a:rPr sz="1050" b="1" i="0">
                <a:solidFill>
                  <a:srgbClr val="14140F"/>
                </a:solidFill>
                <a:latin typeface="Malgun Gothic"/>
              </a:rPr>
              <a:t>단일 forward pass 24-class 분류</a:t>
            </a:r>
            <a:r>
              <a:rPr sz="1050" b="0" i="0">
                <a:solidFill>
                  <a:srgbClr val="14140F"/>
                </a:solidFill>
                <a:latin typeface="Malgun Gothic"/>
              </a:rPr>
              <a:t>로 직접 스코어링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50" b="0" i="0">
                <a:solidFill>
                  <a:srgbClr val="14140F"/>
                </a:solidFill>
                <a:latin typeface="Malgun Gothic"/>
              </a:rPr>
              <a:t>Ver8 챔피언의 "24글자 제한 로짓 스코어링"을 lm_head 24-glyph row 초기화로 </a:t>
            </a:r>
            <a:r>
              <a:rPr sz="1050" b="1" i="0">
                <a:solidFill>
                  <a:srgbClr val="14140F"/>
                </a:solidFill>
                <a:latin typeface="Malgun Gothic"/>
              </a:rPr>
              <a:t>수학적으로 정확히 재현</a:t>
            </a:r>
            <a:r>
              <a:rPr sz="1050" b="0" i="0">
                <a:solidFill>
                  <a:srgbClr val="14140F"/>
                </a:solidFill>
                <a:latin typeface="Malgun Gothic"/>
              </a:rPr>
              <a:t> — warm-start 시 ln(24) 플래토를 원천 제거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84064"/>
            <a:ext cx="5431536" cy="1298448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5212079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기여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5184647"/>
            <a:ext cx="41330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140F"/>
                </a:solidFill>
                <a:latin typeface="Malgun Gothic"/>
              </a:rPr>
              <a:t>Stackelberg 2-시간축 학습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541264"/>
            <a:ext cx="5047488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head를 빠르게 적응해야 하는 "leader"(높은 lr, weight decay 0.1), body(LoRA)를 천천히 따라가는 "follower"로 보는 </a:t>
            </a:r>
            <a:r>
              <a:rPr sz="1000" b="1" i="0">
                <a:solidFill>
                  <a:srgbClr val="14140F"/>
                </a:solidFill>
                <a:latin typeface="Malgun Gothic"/>
              </a:rPr>
              <a:t>게임이론적 학습률 분리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단일 lr 대조군(</a:t>
            </a:r>
            <a:r>
              <a:rPr sz="850" b="0" i="0">
                <a:solidFill>
                  <a:srgbClr val="55544C"/>
                </a:solidFill>
                <a:latin typeface="Consolas"/>
              </a:rPr>
              <a:t>--uniform-lr</a:t>
            </a:r>
            <a:r>
              <a:rPr sz="1000" b="0" i="0">
                <a:solidFill>
                  <a:srgbClr val="14140F"/>
                </a:solidFill>
                <a:latin typeface="Malgun Gothic"/>
              </a:rPr>
              <a:t>) 대비 ln(24) 플래토 회피 목적 — head/body 역할이 근본적으로 다르다는 관찰의 구조적 반영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5084064"/>
            <a:ext cx="5431536" cy="1298448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91656" y="5212079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기여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5184647"/>
            <a:ext cx="41330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140F"/>
                </a:solidFill>
                <a:latin typeface="Malgun Gothic"/>
              </a:rPr>
              <a:t>기대-Kendall 보조손실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5541264"/>
            <a:ext cx="5047488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850" b="0" i="0">
                <a:solidFill>
                  <a:srgbClr val="55544C"/>
                </a:solidFill>
                <a:latin typeface="Consolas"/>
              </a:rPr>
              <a:t>loss += λ·E[KT(pred,GT)/6]</a:t>
            </a:r>
            <a:r>
              <a:rPr sz="1000" b="0" i="0">
                <a:solidFill>
                  <a:srgbClr val="14140F"/>
                </a:solidFill>
                <a:latin typeface="Malgun Gothic"/>
              </a:rPr>
              <a:t> — 오답이어도 "덜 틀린" 순서를 우대해 학습 목표를 순서-근접도에 정렬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one-hot GT에서 0 → CE 최적점과 충돌 없이 안전하게 얹는 보조 신호(설계 전제 재검증은 5p 한계 참고)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40">
                <a:solidFill>
                  <a:srgbClr val="2A78D6"/>
                </a:solidFill>
                <a:latin typeface="Malgun Gothic"/>
              </a:rPr>
              <a:t>03 · TRAINING &amp;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14140F"/>
                </a:solidFill>
                <a:latin typeface="Malgun Gothic"/>
              </a:rPr>
              <a:t>학습 및 추론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544C"/>
                </a:solidFill>
                <a:latin typeface="Malgun Gothic"/>
              </a:rPr>
              <a:t>Warm-start SFT → 실측 기반 체크포인트 선정 → (기각된) DPO → 균형 TTA8 + motion=0.3 추론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6847A"/>
                </a:solidFill>
                <a:latin typeface="Malgun Gothic"/>
              </a:rPr>
              <a:t>3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56231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8424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학습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1956816"/>
            <a:ext cx="409651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40F"/>
                </a:solidFill>
                <a:latin typeface="Malgun Gothic"/>
              </a:rPr>
              <a:t>Warm-start SFT (A100, DDP×2)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13432"/>
            <a:ext cx="501091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1" i="0">
                <a:solidFill>
                  <a:srgbClr val="14140F"/>
                </a:solidFill>
                <a:latin typeface="Malgun Gothic"/>
              </a:rPr>
              <a:t>Warm-start</a:t>
            </a:r>
            <a:r>
              <a:rPr sz="1000" b="0" i="0">
                <a:solidFill>
                  <a:srgbClr val="14140F"/>
                </a:solidFill>
                <a:latin typeface="Malgun Gothic"/>
              </a:rPr>
              <a:t>: 대회 현 챔피언(Ver8 DPO checkpoint-600, LoRA r16/α32/7-proj·언어 64층 동일 구성)에서 어댑터 이식 — 냉시작 대비 ln(24) 플래토 문제 원천 회피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train </a:t>
            </a:r>
            <a:r>
              <a:rPr sz="1000" b="1" i="0">
                <a:solidFill>
                  <a:srgbClr val="14140F"/>
                </a:solidFill>
                <a:latin typeface="Malgun Gothic"/>
              </a:rPr>
              <a:t>9,535건 전량</a:t>
            </a:r>
            <a:r>
              <a:rPr sz="1000" b="0" i="0">
                <a:solidFill>
                  <a:srgbClr val="14140F"/>
                </a:solidFill>
                <a:latin typeface="Malgun Gothic"/>
              </a:rPr>
              <a:t>(로컬 홀드아웃 폐지) / body lr 5e-5, head lr 2.5e-4(비율 5) / cosine / grad-accum 16 / 1,500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10712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53872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검증 규율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3511296"/>
            <a:ext cx="409651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40F"/>
                </a:solidFill>
                <a:latin typeface="Malgun Gothic"/>
              </a:rPr>
              <a:t>in-sample 프록시는 못 믿는다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867912"/>
            <a:ext cx="501091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체크포인트 in-sample(train 서브셋) pairwise 스윕은 </a:t>
            </a:r>
            <a:r>
              <a:rPr sz="1000" b="1" i="0">
                <a:solidFill>
                  <a:srgbClr val="14140F"/>
                </a:solidFill>
                <a:latin typeface="Malgun Gothic"/>
              </a:rPr>
              <a:t>스텝이 늘수록 계속 우상향</a:t>
            </a:r>
            <a:r>
              <a:rPr sz="1000" b="0" i="0">
                <a:solidFill>
                  <a:srgbClr val="14140F"/>
                </a:solidFill>
                <a:latin typeface="Malgun Gothic"/>
              </a:rPr>
              <a:t>(암기 혼입 가능) — 실제 test 819건 재검증에서 순위가 실제로 역전된 전례 확인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→ </a:t>
            </a:r>
            <a:r>
              <a:rPr sz="1000" b="1" i="0">
                <a:solidFill>
                  <a:srgbClr val="14140F"/>
                </a:solidFill>
                <a:latin typeface="Malgun Gothic"/>
              </a:rPr>
              <a:t>최종 후보(checkpoint-1200) 선정은 반드시 실제 test 819건 + 로컬 채점기</a:t>
            </a:r>
            <a:r>
              <a:rPr sz="1000" b="0" i="0">
                <a:solidFill>
                  <a:srgbClr val="14140F"/>
                </a:solidFill>
                <a:latin typeface="Malgun Gothic"/>
              </a:rPr>
              <a:t>로만 확정, in-sample은 후보 압축 용도로만 사용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65192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509320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DPO 실험 2회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5065776"/>
            <a:ext cx="409651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40F"/>
                </a:solidFill>
                <a:latin typeface="Malgun Gothic"/>
              </a:rPr>
              <a:t>정직한 기각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422392"/>
            <a:ext cx="501091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checkpoint-1200 위에 인접스왑 마진 DPO(최대 1,000 step, 조기종료)를 두 차례 시도 — </a:t>
            </a:r>
            <a:r>
              <a:rPr sz="1000" b="1" i="0">
                <a:solidFill>
                  <a:srgbClr val="14140F"/>
                </a:solidFill>
                <a:latin typeface="Malgun Gothic"/>
              </a:rPr>
              <a:t>두 번 다 SFT-only 대비 EM 하락</a:t>
            </a:r>
            <a:r>
              <a:rPr sz="1000" b="0" i="0">
                <a:solidFill>
                  <a:srgbClr val="14140F"/>
                </a:solidFill>
                <a:latin typeface="Malgun Gothic"/>
              </a:rPr>
              <a:t>(각 −11, −8)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가설: kt-weight 보조손실이 이미 쌍순서를 타겟팅 → DPO 마진손실이 같은 목적을 과교정. </a:t>
            </a:r>
            <a:r>
              <a:rPr sz="1000" b="1" i="0">
                <a:solidFill>
                  <a:srgbClr val="14140F"/>
                </a:solidFill>
                <a:latin typeface="Malgun Gothic"/>
              </a:rPr>
              <a:t>재현된 패턴이라 채택하지 않음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56231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198424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추론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1956816"/>
            <a:ext cx="40965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40F"/>
                </a:solidFill>
                <a:latin typeface="Malgun Gothic"/>
              </a:rPr>
              <a:t>균형 TTA — 슬롯 편향 상쇄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2313432"/>
            <a:ext cx="50109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Klein 4원군(4뷰)에서 </a:t>
            </a:r>
            <a:r>
              <a:rPr sz="1000" b="1" i="0">
                <a:solidFill>
                  <a:srgbClr val="14140F"/>
                </a:solidFill>
                <a:latin typeface="Malgun Gothic"/>
              </a:rPr>
              <a:t>균형 8뷰(D4/Sylow-2 코셋)</a:t>
            </a:r>
            <a:r>
              <a:rPr sz="1000" b="0" i="0">
                <a:solidFill>
                  <a:srgbClr val="14140F"/>
                </a:solidFill>
                <a:latin typeface="Malgun Gothic"/>
              </a:rPr>
              <a:t>로 확장 — 챔피언 트랙과 서빙 조건 통일, 완전 결정적 고정 뷰 집합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44951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317296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추론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3145536"/>
            <a:ext cx="40965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40F"/>
                </a:solidFill>
                <a:latin typeface="Malgun Gothic"/>
              </a:rPr>
              <a:t>Stage-2 always — 풀토큰 재검증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3502151"/>
            <a:ext cx="501091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저마진 캐스케이드 대신 </a:t>
            </a:r>
            <a:r>
              <a:rPr sz="1000" b="1" i="0">
                <a:solidFill>
                  <a:srgbClr val="14140F"/>
                </a:solidFill>
                <a:latin typeface="Malgun Gothic"/>
              </a:rPr>
              <a:t>전 샘플에 대해 풀토큰(비프루닝) forward를 추가 수행</a:t>
            </a:r>
            <a:r>
              <a:rPr sz="1000" b="0" i="0">
                <a:solidFill>
                  <a:srgbClr val="14140F"/>
                </a:solidFill>
                <a:latin typeface="Malgun Gothic"/>
              </a:rPr>
              <a:t> — 프루닝이 버린 증거를 되살리는 정보 추가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24시간 추론 예산 대비 여유(≈1.7× 시간) 판단하에 정확도를 시간과 교환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62272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590288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최종 채택 설정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4919472"/>
            <a:ext cx="4992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140F"/>
                </a:solidFill>
                <a:latin typeface="Malgun Gothic"/>
              </a:rPr>
              <a:t>★ 챔피언 동점 제출(실LB 0.93019)의 추론 설정값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464807" y="5212080"/>
          <a:ext cx="5193792" cy="749808"/>
        </p:xfrm>
        <a:graphic>
          <a:graphicData uri="http://schemas.openxmlformats.org/drawingml/2006/table">
            <a:tbl>
              <a:tblPr firstRow="1" bandRow="1"/>
              <a:tblGrid>
                <a:gridCol w="1188720"/>
                <a:gridCol w="1051560"/>
                <a:gridCol w="1783080"/>
                <a:gridCol w="1170432"/>
              </a:tblGrid>
              <a:tr h="2499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140F"/>
                          </a:solidFill>
                          <a:latin typeface="Malgun Gothic"/>
                        </a:rPr>
                        <a:t>keep-ratio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4140F"/>
                          </a:solidFill>
                          <a:latin typeface="Malgun Gothic"/>
                        </a:rPr>
                        <a:t>0.5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140F"/>
                          </a:solidFill>
                          <a:latin typeface="Malgun Gothic"/>
                        </a:rPr>
                        <a:t>objectness weight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4140F"/>
                          </a:solidFill>
                          <a:latin typeface="Malgun Gothic"/>
                        </a:rPr>
                        <a:t>0.3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499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140F"/>
                          </a:solidFill>
                          <a:latin typeface="Malgun Gothic"/>
                        </a:rPr>
                        <a:t>mmr λ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4140F"/>
                          </a:solidFill>
                          <a:latin typeface="Malgun Gothic"/>
                        </a:rPr>
                        <a:t>0.5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140F"/>
                          </a:solidFill>
                          <a:latin typeface="Malgun Gothic"/>
                        </a:rPr>
                        <a:t>motion weight(학습+추론)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4140F"/>
                          </a:solidFill>
                          <a:latin typeface="Malgun Gothic"/>
                        </a:rPr>
                        <a:t>0.3 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499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140F"/>
                          </a:solidFill>
                          <a:latin typeface="Malgun Gothic"/>
                        </a:rPr>
                        <a:t>TTA views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4140F"/>
                          </a:solidFill>
                          <a:latin typeface="Malgun Gothic"/>
                        </a:rPr>
                        <a:t>8 (balanced)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140F"/>
                          </a:solidFill>
                          <a:latin typeface="Malgun Gothic"/>
                        </a:rPr>
                        <a:t>max-pixels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4140F"/>
                          </a:solidFill>
                          <a:latin typeface="Malgun Gothic"/>
                        </a:rPr>
                        <a:t>1,126,400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40">
                <a:solidFill>
                  <a:srgbClr val="2A78D6"/>
                </a:solidFill>
                <a:latin typeface="Malgun Gothic"/>
              </a:rPr>
              <a:t>04 · RESULTS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14140F"/>
                </a:solidFill>
                <a:latin typeface="Malgun Gothic"/>
              </a:rPr>
              <a:t>실험 결과 및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544C"/>
                </a:solidFill>
                <a:latin typeface="Malgun Gothic"/>
              </a:rPr>
              <a:t>실측 LB 0.93019 — 대회 챔피언과 공개 그리드 완전 동점(최종 순위는 비공개 30%), 두 차례 DPO는 데이터로 기각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6847A"/>
                </a:solidFill>
                <a:latin typeface="Malgun Gothic"/>
              </a:rPr>
              <a:t>4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56231"/>
            <a:ext cx="5394960" cy="2084831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4140F"/>
                </a:solidFill>
                <a:latin typeface="Malgun Gothic"/>
              </a:rPr>
              <a:t>후보별 성능 (test 819건, 로컬 키 v13 채점)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231136"/>
          <a:ext cx="5029200" cy="1353312"/>
        </p:xfrm>
        <a:graphic>
          <a:graphicData uri="http://schemas.openxmlformats.org/drawingml/2006/table">
            <a:tbl>
              <a:tblPr firstRow="0" bandRow="0"/>
              <a:tblGrid>
                <a:gridCol w="1143000"/>
                <a:gridCol w="1280160"/>
                <a:gridCol w="731520"/>
                <a:gridCol w="594360"/>
                <a:gridCol w="128016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55544C"/>
                          </a:solidFill>
                          <a:latin typeface="Malgun Gothic"/>
                        </a:rPr>
                        <a:t>후보</a:t>
                      </a:r>
                    </a:p>
                  </a:txBody>
                  <a:tcPr marL="76200" marR="76200" marT="38100" marB="38100" anchor="ctr">
                    <a:solidFill>
                      <a:srgbClr val="EFEE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55544C"/>
                          </a:solidFill>
                          <a:latin typeface="Malgun Gothic"/>
                        </a:rPr>
                        <a:t>구성</a:t>
                      </a:r>
                    </a:p>
                  </a:txBody>
                  <a:tcPr marL="76200" marR="76200" marT="38100" marB="38100" anchor="ctr">
                    <a:solidFill>
                      <a:srgbClr val="EFEE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55544C"/>
                          </a:solidFill>
                          <a:latin typeface="Malgun Gothic"/>
                        </a:rPr>
                        <a:t>EM</a:t>
                      </a:r>
                    </a:p>
                  </a:txBody>
                  <a:tcPr marL="76200" marR="76200" marT="38100" marB="38100" anchor="ctr">
                    <a:solidFill>
                      <a:srgbClr val="EFEE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55544C"/>
                          </a:solidFill>
                          <a:latin typeface="Malgun Gothic"/>
                        </a:rPr>
                        <a:t>est</a:t>
                      </a:r>
                    </a:p>
                  </a:txBody>
                  <a:tcPr marL="76200" marR="76200" marT="38100" marB="38100" anchor="ctr">
                    <a:solidFill>
                      <a:srgbClr val="EFEE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55544C"/>
                          </a:solidFill>
                          <a:latin typeface="Malgun Gothic"/>
                        </a:rPr>
                        <a:t>실LB</a:t>
                      </a:r>
                    </a:p>
                  </a:txBody>
                  <a:tcPr marL="76200" marR="76200" marT="38100" marB="38100" anchor="ctr">
                    <a:solidFill>
                      <a:srgbClr val="EFEEE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140F"/>
                          </a:solidFill>
                          <a:latin typeface="Malgun Gothic"/>
                        </a:rPr>
                        <a:t>ckpt1200 SFT</a:t>
                      </a:r>
                    </a:p>
                  </a:txBody>
                  <a:tcPr marL="76200" marR="76200" marT="38100" marB="38100" anchor="ctr">
                    <a:solidFill>
                      <a:srgbClr val="E4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140F"/>
                          </a:solidFill>
                          <a:latin typeface="Malgun Gothic"/>
                        </a:rPr>
                        <a:t>TTA8·motion0.3</a:t>
                      </a:r>
                    </a:p>
                  </a:txBody>
                  <a:tcPr marL="76200" marR="76200" marT="38100" marB="38100" anchor="ctr">
                    <a:solidFill>
                      <a:srgbClr val="E4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4140F"/>
                          </a:solidFill>
                          <a:latin typeface="Malgun Gothic"/>
                        </a:rPr>
                        <a:t>753/819</a:t>
                      </a:r>
                    </a:p>
                  </a:txBody>
                  <a:tcPr marL="76200" marR="76200" marT="38100" marB="38100" anchor="ctr">
                    <a:solidFill>
                      <a:srgbClr val="E4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4140F"/>
                          </a:solidFill>
                          <a:latin typeface="Malgun Gothic"/>
                        </a:rPr>
                        <a:t>0.9109</a:t>
                      </a:r>
                    </a:p>
                  </a:txBody>
                  <a:tcPr marL="76200" marR="76200" marT="38100" marB="38100" anchor="ctr">
                    <a:solidFill>
                      <a:srgbClr val="E4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140F"/>
                          </a:solidFill>
                          <a:latin typeface="Malgun Gothic"/>
                        </a:rPr>
                        <a:t>0.93019(동점)</a:t>
                      </a:r>
                    </a:p>
                  </a:txBody>
                  <a:tcPr marL="76200" marR="76200" marT="38100" marB="38100" anchor="ctr">
                    <a:solidFill>
                      <a:srgbClr val="E4F7E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140F"/>
                          </a:solidFill>
                          <a:latin typeface="Malgun Gothic"/>
                        </a:rPr>
                        <a:t>ckpt1200 SFT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140F"/>
                          </a:solidFill>
                          <a:latin typeface="Malgun Gothic"/>
                        </a:rPr>
                        <a:t>TTA8·motion0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4140F"/>
                          </a:solidFill>
                          <a:latin typeface="Malgun Gothic"/>
                        </a:rPr>
                        <a:t>747/819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4140F"/>
                          </a:solidFill>
                          <a:latin typeface="Malgun Gothic"/>
                        </a:rPr>
                        <a:t>0.9036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140F"/>
                          </a:solidFill>
                          <a:latin typeface="Malgun Gothic"/>
                        </a:rPr>
                        <a:t>0.92670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6847A"/>
                          </a:solidFill>
                          <a:latin typeface="Malgun Gothic"/>
                        </a:rPr>
                        <a:t>ckpt1200+DPO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6847A"/>
                          </a:solidFill>
                          <a:latin typeface="Malgun Gothic"/>
                        </a:rPr>
                        <a:t>TTA8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86847A"/>
                          </a:solidFill>
                          <a:latin typeface="Malgun Gothic"/>
                        </a:rPr>
                        <a:t>745/819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86847A"/>
                          </a:solidFill>
                          <a:latin typeface="Malgun Gothic"/>
                        </a:rPr>
                        <a:t>0.9011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6847A"/>
                          </a:solidFill>
                          <a:latin typeface="Malgun Gothic"/>
                        </a:rPr>
                        <a:t>기각·미채택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363016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6847A"/>
                </a:solidFill>
                <a:latin typeface="Malgun Gothic"/>
              </a:rPr>
              <a:t>참고: 대회 챔피언(Ver8, DPO ckpt600+TTA8) 실LB 0.93019 — 본 트랙과 공개그리드 동점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215383"/>
            <a:ext cx="50566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140F"/>
                </a:solidFill>
                <a:latin typeface="Malgun Gothic"/>
              </a:rPr>
              <a:t>Error / Ablation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572000"/>
            <a:ext cx="501091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50" b="1" i="0">
                <a:solidFill>
                  <a:srgbClr val="14140F"/>
                </a:solidFill>
                <a:latin typeface="Malgun Gothic"/>
              </a:rPr>
              <a:t>TTA4→TTA8</a:t>
            </a:r>
            <a:r>
              <a:rPr sz="1050" b="0" i="0">
                <a:solidFill>
                  <a:srgbClr val="14140F"/>
                </a:solidFill>
                <a:latin typeface="Malgun Gothic"/>
              </a:rPr>
              <a:t>: EM 완전 동률(747, 불일치 23/819=2.8%는 GPU 비결정성 노이즈 밴드 1.8~2.3%와 구분 불가) — 뷰 확장 자체보다 챔피언과의 서빙 조건 통일이 채택 이유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50" b="1" i="0">
                <a:solidFill>
                  <a:srgbClr val="14140F"/>
                </a:solidFill>
                <a:latin typeface="Malgun Gothic"/>
              </a:rPr>
              <a:t>est 신뢰성 한계(재확인)</a:t>
            </a:r>
            <a:r>
              <a:rPr sz="1050" b="0" i="0">
                <a:solidFill>
                  <a:srgbClr val="14140F"/>
                </a:solidFill>
                <a:latin typeface="Malgun Gothic"/>
              </a:rPr>
              <a:t>: motion=0.3 후보 est 0.9109 vs 실측 0.93019(+1.93pp), motion=0 후보 est 0.9036 vs 실측 0.92670(+2.31pp) — </a:t>
            </a:r>
            <a:r>
              <a:rPr sz="1050" b="1" i="0">
                <a:solidFill>
                  <a:srgbClr val="14140F"/>
                </a:solidFill>
                <a:latin typeface="Malgun Gothic"/>
              </a:rPr>
              <a:t>두 후보 모두 같은 방향(과소추정)</a:t>
            </a:r>
            <a:r>
              <a:rPr sz="1050" b="0" i="0">
                <a:solidFill>
                  <a:srgbClr val="14140F"/>
                </a:solidFill>
                <a:latin typeface="Malgun Gothic"/>
              </a:rPr>
              <a:t>으로 어긋나 est는 상위권 후보의 절대순위·격차 판별에 구조적으로 못 미더움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50" b="1" i="0">
                <a:solidFill>
                  <a:srgbClr val="14140F"/>
                </a:solidFill>
                <a:latin typeface="Malgun Gothic"/>
              </a:rPr>
              <a:t>채점 방식</a:t>
            </a:r>
            <a:r>
              <a:rPr sz="1050" b="0" i="0">
                <a:solidFill>
                  <a:srgbClr val="14140F"/>
                </a:solidFill>
                <a:latin typeface="Malgun Gothic"/>
              </a:rPr>
              <a:t>: 공개 LB는 819건 중 573건(70%) 그리드, </a:t>
            </a:r>
            <a:r>
              <a:rPr sz="1050" b="1" i="0">
                <a:solidFill>
                  <a:srgbClr val="14140F"/>
                </a:solidFill>
                <a:latin typeface="Malgun Gothic"/>
              </a:rPr>
              <a:t>EM 단독</a:t>
            </a:r>
            <a:r>
              <a:rPr sz="1050" b="0" i="0">
                <a:solidFill>
                  <a:srgbClr val="14140F"/>
                </a:solidFill>
                <a:latin typeface="Malgun Gothic"/>
              </a:rPr>
              <a:t>(부분점수 없음) — 오분류는 대부분 인접 두 프레임 스왑(저마진 케이스)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56231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47672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4140F"/>
                </a:solidFill>
                <a:latin typeface="Malgun Gothic"/>
              </a:rPr>
              <a:t>실LB 스코어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04288"/>
            <a:ext cx="1965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44C"/>
                </a:solidFill>
                <a:latin typeface="Malgun Gothic"/>
              </a:rPr>
              <a:t>대회 챔피언 (Ver8 트랙)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19" y="2304288"/>
            <a:ext cx="2926080" cy="274320"/>
          </a:xfrm>
          <a:prstGeom prst="roundRect">
            <a:avLst>
              <a:gd name="adj" fmla="val 30000"/>
            </a:avLst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19" y="2304288"/>
            <a:ext cx="2926080" cy="274320"/>
          </a:xfrm>
          <a:prstGeom prst="roundRect">
            <a:avLst>
              <a:gd name="adj" fmla="val 3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2304288"/>
            <a:ext cx="2834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Malgun Gothic"/>
              </a:rPr>
              <a:t>0.9302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88336"/>
            <a:ext cx="1965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5544C"/>
                </a:solidFill>
                <a:latin typeface="Malgun Gothic"/>
              </a:rPr>
              <a:t>Ver11 ckpt1200 motion=0.3 (채택)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19" y="2688336"/>
            <a:ext cx="2926080" cy="274320"/>
          </a:xfrm>
          <a:prstGeom prst="roundRect">
            <a:avLst>
              <a:gd name="adj" fmla="val 30000"/>
            </a:avLst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19" y="2688336"/>
            <a:ext cx="2926080" cy="274320"/>
          </a:xfrm>
          <a:prstGeom prst="roundRect">
            <a:avLst>
              <a:gd name="adj" fmla="val 3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2688336"/>
            <a:ext cx="2834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Malgun Gothic"/>
              </a:rPr>
              <a:t>0.9302 (동점)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72384"/>
            <a:ext cx="1965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44C"/>
                </a:solidFill>
                <a:latin typeface="Malgun Gothic"/>
              </a:rPr>
              <a:t>Ver11 ckpt1200 motion=0 (첫 확인)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19" y="3072384"/>
            <a:ext cx="2926080" cy="274320"/>
          </a:xfrm>
          <a:prstGeom prst="roundRect">
            <a:avLst>
              <a:gd name="adj" fmla="val 30000"/>
            </a:avLst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03919" y="3072384"/>
            <a:ext cx="2635134" cy="274320"/>
          </a:xfrm>
          <a:prstGeom prst="roundRect">
            <a:avLst>
              <a:gd name="adj" fmla="val 30000"/>
            </a:avLst>
          </a:prstGeom>
          <a:solidFill>
            <a:srgbClr val="86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3072384"/>
            <a:ext cx="25436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Malgun Gothic"/>
              </a:rPr>
              <a:t>0.9267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56432"/>
            <a:ext cx="1965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44C"/>
                </a:solidFill>
                <a:latin typeface="Malgun Gothic"/>
              </a:rPr>
              <a:t>Ver11 + DPO (기각)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19" y="3456432"/>
            <a:ext cx="2926080" cy="274320"/>
          </a:xfrm>
          <a:prstGeom prst="roundRect">
            <a:avLst>
              <a:gd name="adj" fmla="val 30000"/>
            </a:avLst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03919" y="3456432"/>
            <a:ext cx="507076" cy="274320"/>
          </a:xfrm>
          <a:prstGeom prst="roundRect">
            <a:avLst>
              <a:gd name="adj" fmla="val 30000"/>
            </a:avLst>
          </a:prstGeom>
          <a:solidFill>
            <a:srgbClr val="86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4148" y="3456432"/>
            <a:ext cx="234585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4140F"/>
                </a:solidFill>
                <a:latin typeface="Malgun Gothic"/>
              </a:rPr>
              <a:t>est 0.9011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85876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86847A"/>
                </a:solidFill>
                <a:latin typeface="Malgun Gothic"/>
              </a:rPr>
              <a:t>막대 길이는 챔피언(0.9302)=100% 기준 상대 스케일. </a:t>
            </a:r>
            <a:r>
              <a:rPr sz="850" b="1" i="0">
                <a:solidFill>
                  <a:srgbClr val="86847A"/>
                </a:solidFill>
                <a:latin typeface="Malgun Gothic"/>
              </a:rPr>
              <a:t>Ver11 채택안은 챔피언과 정확히 같은 길이.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315968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DD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7" y="4416551"/>
            <a:ext cx="50566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140F"/>
                </a:solidFill>
                <a:latin typeface="Malgun Gothic"/>
              </a:rPr>
              <a:t>인사이트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7" y="4773168"/>
            <a:ext cx="5010912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공개 그리드(573건)에서 챔피언과 </a:t>
            </a:r>
            <a:r>
              <a:rPr sz="1000" b="1" i="0">
                <a:solidFill>
                  <a:srgbClr val="14140F"/>
                </a:solidFill>
                <a:latin typeface="Malgun Gothic"/>
              </a:rPr>
              <a:t>정확히 동일한 스코어(0.93019)</a:t>
            </a:r>
            <a:r>
              <a:rPr sz="1000" b="0" i="0">
                <a:solidFill>
                  <a:srgbClr val="14140F"/>
                </a:solidFill>
                <a:latin typeface="Malgun Gothic"/>
              </a:rPr>
              <a:t> — 서로 다른 아키텍처(Ver11: FitPrune+Stackelberg+score24 / Ver8: 별개 파이프라인)가 독립적으로 같은 count-correct에 도달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1" i="0">
                <a:solidFill>
                  <a:srgbClr val="14140F"/>
                </a:solidFill>
                <a:latin typeface="Malgun Gothic"/>
              </a:rPr>
              <a:t>주의</a:t>
            </a:r>
            <a:r>
              <a:rPr sz="1000" b="0" i="0">
                <a:solidFill>
                  <a:srgbClr val="14140F"/>
                </a:solidFill>
                <a:latin typeface="Malgun Gothic"/>
              </a:rPr>
              <a:t>: '맞춘 개수가 같다'는 것이지 '같은 문항을 맞췄다'는 보장은 아님 — </a:t>
            </a:r>
            <a:r>
              <a:rPr sz="1000" b="1" i="0">
                <a:solidFill>
                  <a:srgbClr val="14140F"/>
                </a:solidFill>
                <a:latin typeface="Malgun Gothic"/>
              </a:rPr>
              <a:t>최종 순위는 비공개 30%로 결정</a:t>
            </a:r>
          </a:p>
          <a:p>
            <a:pPr algn="l" indent="-146304" marL="146304">
              <a:spcAft>
                <a:spcPts val="500"/>
              </a:spcAft>
              <a:buClr>
                <a:srgbClr val="B0AFA5"/>
              </a:buClr>
              <a:buFont typeface="Arial"/>
              <a:buChar char="•"/>
            </a:pPr>
            <a:r>
              <a:rPr sz="1000" b="0" i="0">
                <a:solidFill>
                  <a:srgbClr val="14140F"/>
                </a:solidFill>
                <a:latin typeface="Malgun Gothic"/>
              </a:rPr>
              <a:t>DPO 막대는 실LB가 아닌 est이며, EM·est 두 지표 모두 SFT-only보다 낮아 채택하지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40">
                <a:solidFill>
                  <a:srgbClr val="2A78D6"/>
                </a:solidFill>
                <a:latin typeface="Malgun Gothic"/>
              </a:rPr>
              <a:t>05 · STRENGTHS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14140F"/>
                </a:solidFill>
                <a:latin typeface="Malgun Gothic"/>
              </a:rPr>
              <a:t>방법론의 장점과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544C"/>
                </a:solidFill>
                <a:latin typeface="Malgun Gothic"/>
              </a:rPr>
              <a:t>독립 아키텍처로 챔피언과 동급 성능 확정 — 최종 변수는 비공개 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6847A"/>
                </a:solidFill>
                <a:latin typeface="Malgun Gothic"/>
              </a:rPr>
              <a:t>5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5408676" cy="3794760"/>
          </a:xfrm>
          <a:prstGeom prst="roundRect">
            <a:avLst>
              <a:gd name="adj" fmla="val 6000"/>
            </a:avLst>
          </a:prstGeom>
          <a:solidFill>
            <a:srgbClr val="E4F7EF"/>
          </a:solidFill>
          <a:ln w="12700">
            <a:solidFill>
              <a:srgbClr val="B6E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장점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042916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1000"/>
              </a:spcAft>
              <a:buClr>
                <a:srgbClr val="B0AFA5"/>
              </a:buClr>
              <a:buFont typeface="Arial"/>
              <a:buChar char="•"/>
            </a:pPr>
            <a:r>
              <a:rPr sz="1150" b="1" i="0">
                <a:solidFill>
                  <a:srgbClr val="0D4A33"/>
                </a:solidFill>
                <a:latin typeface="Malgun Gothic"/>
              </a:rPr>
              <a:t>구조적 효율성</a:t>
            </a:r>
            <a:r>
              <a:rPr sz="1150" b="0" i="0">
                <a:solidFill>
                  <a:srgbClr val="0D4A33"/>
                </a:solidFill>
                <a:latin typeface="Malgun Gothic"/>
              </a:rPr>
              <a:t>: 캡션-조건부 50% 토큰 컷 + 단일-패스 score24 헤드로 24-순열 autoregressive 생성을 회피 — 생성 기반 대비 구조적으로 절감된 연산 경로</a:t>
            </a:r>
          </a:p>
          <a:p>
            <a:pPr algn="l" indent="-146304" marL="146304">
              <a:spcAft>
                <a:spcPts val="1000"/>
              </a:spcAft>
              <a:buClr>
                <a:srgbClr val="B0AFA5"/>
              </a:buClr>
              <a:buFont typeface="Arial"/>
              <a:buChar char="•"/>
            </a:pPr>
            <a:r>
              <a:rPr sz="1150" b="1" i="0">
                <a:solidFill>
                  <a:srgbClr val="0D4A33"/>
                </a:solidFill>
                <a:latin typeface="Malgun Gothic"/>
              </a:rPr>
              <a:t>진단-우선 설계</a:t>
            </a:r>
            <a:r>
              <a:rPr sz="1150" b="0" i="0">
                <a:solidFill>
                  <a:srgbClr val="0D4A33"/>
                </a:solidFill>
                <a:latin typeface="Malgun Gothic"/>
              </a:rPr>
              <a:t>: 모션 블렌드는 추측이 아니라 저비용 상관 진단(GPU 비용 0, 17초, spearman +0.693 검증) 이후에만 학습에 투입 — 이 진단→설계 루프가 최종적으로 챔피언 동점(0.93019)까지 이어짐</a:t>
            </a:r>
          </a:p>
          <a:p>
            <a:pPr algn="l" indent="-146304" marL="146304">
              <a:spcAft>
                <a:spcPts val="1000"/>
              </a:spcAft>
              <a:buClr>
                <a:srgbClr val="B0AFA5"/>
              </a:buClr>
              <a:buFont typeface="Arial"/>
              <a:buChar char="•"/>
            </a:pPr>
            <a:r>
              <a:rPr sz="1150" b="1" i="0">
                <a:solidFill>
                  <a:srgbClr val="0D4A33"/>
                </a:solidFill>
                <a:latin typeface="Malgun Gothic"/>
              </a:rPr>
              <a:t>정직한 실증 문화</a:t>
            </a:r>
            <a:r>
              <a:rPr sz="1150" b="0" i="0">
                <a:solidFill>
                  <a:srgbClr val="0D4A33"/>
                </a:solidFill>
                <a:latin typeface="Malgun Gothic"/>
              </a:rPr>
              <a:t>: in-sample 프록시를 최종 판단에 쓰지 않고 실제 test+실LB로만 채택을 확정, "그럴듯하지만 역효과"인 DPO 시도를 두 번 다 데이터로 기각</a:t>
            </a:r>
          </a:p>
          <a:p>
            <a:pPr algn="l" indent="-146304" marL="146304">
              <a:spcAft>
                <a:spcPts val="1000"/>
              </a:spcAft>
              <a:buClr>
                <a:srgbClr val="B0AFA5"/>
              </a:buClr>
              <a:buFont typeface="Arial"/>
              <a:buChar char="•"/>
            </a:pPr>
            <a:r>
              <a:rPr sz="1150" b="1" i="0">
                <a:solidFill>
                  <a:srgbClr val="0D4A33"/>
                </a:solidFill>
                <a:latin typeface="Malgun Gothic"/>
              </a:rPr>
              <a:t>Warm-start 정합성</a:t>
            </a:r>
            <a:r>
              <a:rPr sz="1150" b="0" i="0">
                <a:solidFill>
                  <a:srgbClr val="0D4A33"/>
                </a:solidFill>
                <a:latin typeface="Malgun Gothic"/>
              </a:rPr>
              <a:t>: score24 헤드 초기화가 챔피언의 스코어링 방식을 수학적으로 재현해 ln(24) 플래토를 원천 회피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874519"/>
            <a:ext cx="5408676" cy="3794760"/>
          </a:xfrm>
          <a:prstGeom prst="roundRect">
            <a:avLst>
              <a:gd name="adj" fmla="val 6000"/>
            </a:avLst>
          </a:prstGeom>
          <a:solidFill>
            <a:srgbClr val="FBE9E8"/>
          </a:solidFill>
          <a:ln w="12700">
            <a:solidFill>
              <a:srgbClr val="F2C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4516" y="205740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423160"/>
            <a:ext cx="5042916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46304" marL="146304">
              <a:spcAft>
                <a:spcPts val="1000"/>
              </a:spcAft>
              <a:buClr>
                <a:srgbClr val="B0AFA5"/>
              </a:buClr>
              <a:buFont typeface="Arial"/>
              <a:buChar char="•"/>
            </a:pPr>
            <a:r>
              <a:rPr sz="1150" b="1" i="0">
                <a:solidFill>
                  <a:srgbClr val="7A2423"/>
                </a:solidFill>
                <a:latin typeface="Malgun Gothic"/>
              </a:rPr>
              <a:t>최종 순위 미확정</a:t>
            </a:r>
            <a:r>
              <a:rPr sz="1150" b="0" i="0">
                <a:solidFill>
                  <a:srgbClr val="7A2423"/>
                </a:solidFill>
                <a:latin typeface="Malgun Gothic"/>
              </a:rPr>
              <a:t>: 공개 그리드(573건, 70%)에서는 챔피언과 완전 동점이지만, 최종 순위는 비공개 30%로 결정 — "맞춘 개수가 같다"가 "같은 문항을 맞췄다"를 보장하지 않아 비공개 구간에서 우열이 갈릴 수 있음</a:t>
            </a:r>
          </a:p>
          <a:p>
            <a:pPr algn="l" indent="-146304" marL="146304">
              <a:spcAft>
                <a:spcPts val="1000"/>
              </a:spcAft>
              <a:buClr>
                <a:srgbClr val="B0AFA5"/>
              </a:buClr>
              <a:buFont typeface="Arial"/>
              <a:buChar char="•"/>
            </a:pPr>
            <a:r>
              <a:rPr sz="1150" b="1" i="0">
                <a:solidFill>
                  <a:srgbClr val="7A2423"/>
                </a:solidFill>
                <a:latin typeface="Malgun Gothic"/>
              </a:rPr>
              <a:t>자원 효율 트레이드오프</a:t>
            </a:r>
            <a:r>
              <a:rPr sz="1150" b="0" i="0">
                <a:solidFill>
                  <a:srgbClr val="7A2423"/>
                </a:solidFill>
                <a:latin typeface="Malgun Gothic"/>
              </a:rPr>
              <a:t>: TTA8+Stage-2 always 조합은 24GB급 카드에서 VRAM 압박 — motion=0.3 추론 런(6h51m) 중 OOM 재시도 123회 관측, 배점표상 자원효율 항목엔 불리</a:t>
            </a:r>
          </a:p>
          <a:p>
            <a:pPr algn="l" indent="-146304" marL="146304">
              <a:spcAft>
                <a:spcPts val="1000"/>
              </a:spcAft>
              <a:buClr>
                <a:srgbClr val="B0AFA5"/>
              </a:buClr>
              <a:buFont typeface="Arial"/>
              <a:buChar char="•"/>
            </a:pPr>
            <a:r>
              <a:rPr sz="1150" b="1" i="0">
                <a:solidFill>
                  <a:srgbClr val="7A2423"/>
                </a:solidFill>
                <a:latin typeface="Malgun Gothic"/>
              </a:rPr>
              <a:t>로컬 est 프록시의 한계</a:t>
            </a:r>
            <a:r>
              <a:rPr sz="1150" b="0" i="0">
                <a:solidFill>
                  <a:srgbClr val="7A2423"/>
                </a:solidFill>
                <a:latin typeface="Malgun Gothic"/>
              </a:rPr>
              <a:t>: 상위권(≥0.90) 후보 2건 모두 est가 실측보다 낮게 추정(+1.93pp, +2.31pp) → 최종 후보 선정이 하루 2회뿐인 실LB 슬롯에 의존</a:t>
            </a:r>
          </a:p>
          <a:p>
            <a:pPr algn="l" indent="-146304" marL="146304">
              <a:spcAft>
                <a:spcPts val="1000"/>
              </a:spcAft>
              <a:buClr>
                <a:srgbClr val="B0AFA5"/>
              </a:buClr>
              <a:buFont typeface="Arial"/>
              <a:buChar char="•"/>
            </a:pPr>
            <a:r>
              <a:rPr sz="1150" b="1" i="0">
                <a:solidFill>
                  <a:srgbClr val="7A2423"/>
                </a:solidFill>
                <a:latin typeface="Malgun Gothic"/>
              </a:rPr>
              <a:t>설계 가정의 뒤늦은 반증</a:t>
            </a:r>
            <a:r>
              <a:rPr sz="1150" b="0" i="0">
                <a:solidFill>
                  <a:srgbClr val="7A2423"/>
                </a:solidFill>
                <a:latin typeface="Malgun Gothic"/>
              </a:rPr>
              <a:t>: kt-weight 보조손실은 "LB가 쌍순서 부분점수"라는 가설에서 출발했으나, 이후 EM 단독 채점으로 확정됨 — one-hot에서 0이라 해는 없었지만 전제 검증이 실행 이후에 이루어짐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806440"/>
            <a:ext cx="11091672" cy="896112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806440"/>
            <a:ext cx="54864" cy="89611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925312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2A52"/>
                </a:solidFill>
                <a:latin typeface="Malgun Gothic"/>
              </a:rPr>
              <a:t>결론</a:t>
            </a:r>
            <a:r>
              <a:rPr sz="1150" b="0" i="0">
                <a:solidFill>
                  <a:srgbClr val="0D2A52"/>
                </a:solidFill>
                <a:latin typeface="Malgun Gothic"/>
              </a:rPr>
              <a:t> — FitPrune(캡션+객체성+모션 3-way 블렌드) · one-pass score24 · Stackelberg 2-시간축 학습 · 균형 TTA8+motion=0.3 조합은 실측 LB </a:t>
            </a:r>
            <a:r>
              <a:rPr sz="1150" b="1" i="0">
                <a:solidFill>
                  <a:srgbClr val="0D2A52"/>
                </a:solidFill>
                <a:latin typeface="Malgun Gothic"/>
              </a:rPr>
              <a:t>0.93019</a:t>
            </a:r>
            <a:r>
              <a:rPr sz="1150" b="0" i="0">
                <a:solidFill>
                  <a:srgbClr val="0D2A52"/>
                </a:solidFill>
                <a:latin typeface="Malgun Gothic"/>
              </a:rPr>
              <a:t>로, 대회 전체 챔피언(별도 트랙)과 </a:t>
            </a:r>
            <a:r>
              <a:rPr sz="1150" b="1" i="0">
                <a:solidFill>
                  <a:srgbClr val="0D2A52"/>
                </a:solidFill>
                <a:latin typeface="Malgun Gothic"/>
              </a:rPr>
              <a:t>공개 그리드에서 완전 동점</a:t>
            </a:r>
            <a:r>
              <a:rPr sz="1150" b="0" i="0">
                <a:solidFill>
                  <a:srgbClr val="0D2A52"/>
                </a:solidFill>
                <a:latin typeface="Malgun Gothic"/>
              </a:rPr>
              <a:t>을 달성했다. 핵심 차별점은 개별 기법의 나열이 아니라 "캡션-무관 순서 정보가 존재한다"는 진단에서 모션 신호 도입까지 이어진 근거 기반 설계 루프와, DPO처럼 그럴듯해 보이는 확장을 실측으로 두 번 걸러낸 정직한 ablation 규율에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