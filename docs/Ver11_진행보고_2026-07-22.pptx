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CABEC"/>
                </a:solidFill>
                <a:latin typeface="맑은 고딕"/>
                <a:ea typeface="맑은 고딕"/>
              </a:rPr>
              <a:t>SNU AI CHALLENGE 2026 · VER11 진행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맑은 고딕"/>
                <a:ea typeface="맑은 고딕"/>
              </a:rPr>
              <a:t>Cross-Targeted FitPrune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D7DBD2"/>
                </a:solidFill>
                <a:latin typeface="맑은 고딕"/>
                <a:ea typeface="맑은 고딕"/>
              </a:rPr>
              <a:t>+ Motion-Blend Vision-Token Pruning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B8BDB4"/>
                </a:solidFill>
                <a:latin typeface="맑은 고딕"/>
                <a:ea typeface="맑은 고딕"/>
              </a:rPr>
              <a:t>캡션-조건부 비전 토큰 프루닝이 무엇을 시도했고, 두 번의 버그를 어떻게 찾아 고쳤고,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B8BDB4"/>
                </a:solidFill>
                <a:latin typeface="맑은 고딕"/>
                <a:ea typeface="맑은 고딕"/>
              </a:rPr>
              <a:t>오늘(07-22) 발견한 세 번째 단서(모션 신호)를 어디까지 검증했는지에 대한 기록.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898781"/>
                </a:solidFill>
                <a:latin typeface="맑은 고딕"/>
                <a:ea typeface="맑은 고딕"/>
              </a:rPr>
              <a:t>2026-07-22  ·  예선 마감 2026-07-24 23:59 (D-2)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166360"/>
            <a:ext cx="2519806" cy="292608"/>
          </a:xfrm>
          <a:prstGeom prst="roundRect">
            <a:avLst>
              <a:gd name="adj" fmla="val 50000"/>
            </a:avLst>
          </a:prstGeom>
          <a:solidFill>
            <a:srgbClr val="0B0B0B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1150" b="1" i="0">
                <a:solidFill>
                  <a:srgbClr val="2A78D6"/>
                </a:solidFill>
                <a:latin typeface="맑은 고딕"/>
                <a:ea typeface="맑은 고딕"/>
              </a:rPr>
              <a:t>독립 구현 · Ver10 코드 비상속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5166360"/>
            <a:ext cx="2423414" cy="292608"/>
          </a:xfrm>
          <a:prstGeom prst="roundRect">
            <a:avLst>
              <a:gd name="adj" fmla="val 50000"/>
            </a:avLst>
          </a:prstGeom>
          <a:solidFill>
            <a:srgbClr val="0B0B0B"/>
          </a:solidFill>
          <a:ln w="1270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1150" b="1" i="0">
                <a:solidFill>
                  <a:srgbClr val="1BAF7A"/>
                </a:solidFill>
                <a:latin typeface="맑은 고딕"/>
                <a:ea typeface="맑은 고딕"/>
              </a:rPr>
              <a:t>로컬 홀드아웃 폐지 · LB 판정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맑은 고딕"/>
                <a:ea typeface="맑은 고딕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무엇을 다루는가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91056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1E0D9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1609344"/>
            <a:ext cx="4843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B0B0B"/>
                </a:solidFill>
                <a:latin typeface="맑은 고딕"/>
                <a:ea typeface="맑은 고딕"/>
              </a:rPr>
              <a:t>과제와 Ver11의 위치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975104"/>
            <a:ext cx="47699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맑은 고딕"/>
                <a:ea typeface="맑은 고딕"/>
              </a:rPr>
              <a:t>4! 재배열 과제, 현재 챔피언, Ver11이 도전하는 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1591056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1E0D9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5655" y="1609344"/>
            <a:ext cx="4843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B0B0B"/>
                </a:solidFill>
                <a:latin typeface="맑은 고딕"/>
                <a:ea typeface="맑은 고딕"/>
              </a:rPr>
              <a:t>Ver11 아키텍처 개요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5655" y="1975104"/>
            <a:ext cx="47699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맑은 고딕"/>
                <a:ea typeface="맑은 고딕"/>
              </a:rPr>
              <a:t>FitPrune → score24 헤드 → Stackelberg QLoRA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8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1E0D9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779776"/>
            <a:ext cx="4843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B0B0B"/>
                </a:solidFill>
                <a:latin typeface="맑은 고딕"/>
                <a:ea typeface="맑은 고딕"/>
              </a:rPr>
              <a:t>프루닝 시각화 워크스루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145536"/>
            <a:ext cx="47699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맑은 고딕"/>
                <a:ea typeface="맑은 고딕"/>
              </a:rPr>
              <a:t>입력 4장이 실제로 어떻게 50%로 줄어드는가 (실물 스크린샷)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761488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1E0D9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5655" y="2779776"/>
            <a:ext cx="4843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B0B0B"/>
                </a:solidFill>
                <a:latin typeface="맑은 고딕"/>
                <a:ea typeface="맑은 고딕"/>
              </a:rPr>
              <a:t>R&amp;D 이터레이션 1 — Anisotropy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5655" y="3145536"/>
            <a:ext cx="47699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맑은 고딕"/>
                <a:ea typeface="맑은 고딕"/>
              </a:rPr>
              <a:t>07-16 오전: 4개 이벤트 맵이 전부 동일해지던 버그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93192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1E0D9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950208"/>
            <a:ext cx="4843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B0B0B"/>
                </a:solidFill>
                <a:latin typeface="맑은 고딕"/>
                <a:ea typeface="맑은 고딕"/>
              </a:rPr>
              <a:t>R&amp;D 이터레이션 2 — Stuff-over-things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4315968"/>
            <a:ext cx="47699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맑은 고딕"/>
                <a:ea typeface="맑은 고딕"/>
              </a:rPr>
              <a:t>07-16 오후: 배경이 순서판별 물체를 밀어내던 버그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393192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1E0D9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5655" y="3950208"/>
            <a:ext cx="4843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B0B0B"/>
                </a:solidFill>
                <a:latin typeface="맑은 고딕"/>
                <a:ea typeface="맑은 고딕"/>
              </a:rPr>
              <a:t>R&amp;D 이터레이션 3 — 모션 신호 (오늘)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5655" y="4315968"/>
            <a:ext cx="47699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맑은 고딕"/>
                <a:ea typeface="맑은 고딕"/>
              </a:rPr>
              <a:t>종결 판정 이후 발견한 새 단서와 저비용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102352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1E0D9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5120640"/>
            <a:ext cx="4843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B0B0B"/>
                </a:solidFill>
                <a:latin typeface="맑은 고딕"/>
                <a:ea typeface="맑은 고딕"/>
              </a:rPr>
              <a:t>A100 학습 실황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486400"/>
            <a:ext cx="47699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맑은 고딕"/>
                <a:ea typeface="맑은 고딕"/>
              </a:rPr>
              <a:t>예상 밖 게이트 실패 → 진단 → 판단 → 실측 곡선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8727" y="5102352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1E0D9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655" y="5120640"/>
            <a:ext cx="4843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B0B0B"/>
                </a:solidFill>
                <a:latin typeface="맑은 고딕"/>
                <a:ea typeface="맑은 고딕"/>
              </a:rPr>
              <a:t>현재 상태와 다음 단계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45655" y="5486400"/>
            <a:ext cx="47699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맑은 고딕"/>
                <a:ea typeface="맑은 고딕"/>
              </a:rPr>
              <a:t>지금 이 순간 어디까지 왔고, 무엇이 남았는가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목차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맑은 고딕"/>
                <a:ea typeface="맑은 고딕"/>
              </a:rPr>
              <a:t>01 · 과제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셔플된 프레임 4장 → 시간순 재배열 (4! = 24)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60350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550" b="0" i="0">
                <a:solidFill>
                  <a:srgbClr val="0B0B0B"/>
                </a:solidFill>
                <a:latin typeface="맑은 고딕"/>
                <a:ea typeface="맑은 고딕"/>
              </a:rPr>
              <a:t>입력: 캡션 1문장 + 셔플된 비디오 프레임 4장 (Input_1..4)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550" b="0" i="0">
                <a:solidFill>
                  <a:srgbClr val="0B0B0B"/>
                </a:solidFill>
                <a:latin typeface="맑은 고딕"/>
                <a:ea typeface="맑은 고딕"/>
              </a:rPr>
              <a:t>출력: 24가지 순열 중 정답 1개 — Answer는 "랭크"(Input_i가 몇 번째인가)이지 슬롯 점유자가 아님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550" b="0" i="0">
                <a:solidFill>
                  <a:srgbClr val="0B0B0B"/>
                </a:solidFill>
                <a:latin typeface="맑은 고딕"/>
                <a:ea typeface="맑은 고딕"/>
              </a:rPr>
              <a:t>채점: Exact Match 단독(부분점수 없음, 진단 제출로 확정) — 공개 리더보드는 819건 중 573건(70%), 최종 순위는 비공개 246건(30%)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550" b="0" i="0">
                <a:solidFill>
                  <a:srgbClr val="0B0B0B"/>
                </a:solidFill>
                <a:latin typeface="맑은 고딕"/>
                <a:ea typeface="맑은 고딕"/>
              </a:rPr>
              <a:t>예선 마감: 2026-07-24 23:59 — 오늘(07-22) 기준 D-2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27048"/>
            <a:ext cx="4828032" cy="4160520"/>
          </a:xfrm>
          <a:prstGeom prst="roundRect">
            <a:avLst>
              <a:gd name="adj" fmla="val 4000"/>
            </a:avLst>
          </a:prstGeom>
          <a:solidFill>
            <a:srgbClr val="F4ECDA"/>
          </a:solidFill>
          <a:ln w="15875">
            <a:solidFill>
              <a:srgbClr val="9669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173736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6690F"/>
                </a:solidFill>
                <a:latin typeface="맑은 고딕"/>
                <a:ea typeface="맑은 고딕"/>
              </a:rPr>
              <a:t>현재 대회 전체 챔피언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2048256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0B0B"/>
                </a:solidFill>
                <a:latin typeface="맑은 고딕"/>
                <a:ea typeface="맑은 고딕"/>
              </a:rPr>
              <a:t>Ver8 DPO ckpt600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0B0B"/>
                </a:solidFill>
                <a:latin typeface="맑은 고딕"/>
                <a:ea typeface="맑은 고딕"/>
              </a:rPr>
              <a:t>+ TTA8 균형 코셋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779776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96690F"/>
                </a:solidFill>
                <a:latin typeface="맑은 고딕"/>
                <a:ea typeface="맑은 고딕"/>
              </a:rPr>
              <a:t>LB 0.93019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3447288"/>
            <a:ext cx="4343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2514E"/>
                </a:solidFill>
                <a:latin typeface="맑은 고딕"/>
                <a:ea typeface="맑은 고딕"/>
              </a:rPr>
              <a:t>Ver11이 서 있는 위치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맑은 고딕"/>
                <a:ea typeface="맑은 고딕"/>
              </a:rPr>
              <a:t>챔피언의 대체가 아니라 "초과 도전" — 챔피언(Ver8)은 프루닝을 아예 쓰지 않는 별도 서빙 레시피이고, Ver11은 그와 독립적으로 vision-token 프루닝 축을 탐구하는 트랙.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과제 개요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맑은 고딕"/>
                <a:ea typeface="맑은 고딕"/>
              </a:rPr>
              <a:t>02 · 아키텍처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Ver11 한 장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18488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9050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728216"/>
            <a:ext cx="2240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898781"/>
                </a:solidFill>
                <a:latin typeface="맑은 고딕"/>
                <a:ea typeface="맑은 고딕"/>
              </a:rPr>
              <a:t>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05740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맑은 고딕"/>
                <a:ea typeface="맑은 고딕"/>
              </a:rPr>
              <a:t>train.csv 9,535건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맑은 고딕"/>
                <a:ea typeface="맑은 고딕"/>
              </a:rPr>
              <a:t>+ 이미지 4장/샘플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2029968"/>
            <a:ext cx="219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89878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1618488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856" y="1728216"/>
            <a:ext cx="2240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A78D6"/>
                </a:solidFill>
                <a:latin typeface="맑은 고딕"/>
                <a:ea typeface="맑은 고딕"/>
              </a:rPr>
              <a:t>① FitPrune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205740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맑은 고딕"/>
                <a:ea typeface="맑은 고딕"/>
              </a:rPr>
              <a:t>4×4 캡션-교차 스코어링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맑은 고딕"/>
                <a:ea typeface="맑은 고딕"/>
              </a:rPr>
              <a:t>50% 토큰 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029968"/>
            <a:ext cx="219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89878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44184" y="1618488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1728216"/>
            <a:ext cx="2240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A78D6"/>
                </a:solidFill>
                <a:latin typeface="맑은 고딕"/>
                <a:ea typeface="맑은 고딕"/>
              </a:rPr>
              <a:t>② score24 헤드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05740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맑은 고딕"/>
                <a:ea typeface="맑은 고딕"/>
              </a:rPr>
              <a:t>24클래스 원-패스 판별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맑은 고딕"/>
                <a:ea typeface="맑은 고딕"/>
              </a:rPr>
              <a:t>(lm_head 글자행 초기화)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2029968"/>
            <a:ext cx="219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89878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14816" y="1618488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905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728216"/>
            <a:ext cx="2240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AF7A"/>
                </a:solidFill>
                <a:latin typeface="맑은 고딕"/>
                <a:ea typeface="맑은 고딕"/>
              </a:rPr>
              <a:t>③ Stackelberg QLoRA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05740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맑은 고딕"/>
                <a:ea typeface="맑은 고딕"/>
              </a:rPr>
              <a:t>body 2e-4 / head 1e-3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2514E"/>
                </a:solidFill>
                <a:latin typeface="맑은 고딕"/>
                <a:ea typeface="맑은 고딕"/>
              </a:rPr>
              <a:t>두 시간축 분리 학습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17296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0B0B"/>
                </a:solidFill>
                <a:latin typeface="맑은 고딕"/>
                <a:ea typeface="맑은 고딕"/>
              </a:rPr>
              <a:t>설계 원칙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38728"/>
            <a:ext cx="5577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350" b="0" i="0">
                <a:solidFill>
                  <a:srgbClr val="0B0B0B"/>
                </a:solidFill>
                <a:latin typeface="맑은 고딕"/>
                <a:ea typeface="맑은 고딕"/>
              </a:rPr>
              <a:t>독립 구현 — Ver10까지의 코드를 상속하지 않은 별도 clone (지식만 계승)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350" b="0" i="0">
                <a:solidFill>
                  <a:srgbClr val="0B0B0B"/>
                </a:solidFill>
                <a:latin typeface="맑은 고딕"/>
                <a:ea typeface="맑은 고딕"/>
              </a:rPr>
              <a:t>로컬 홀드아웃 폐지 — train 전량 학습, 신규 설계 선택은 LB 제출로만 판정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350" b="0" i="0">
                <a:solidFill>
                  <a:srgbClr val="0B0B0B"/>
                </a:solidFill>
                <a:latin typeface="맑은 고딕"/>
                <a:ea typeface="맑은 고딕"/>
              </a:rPr>
              <a:t>프루닝은 학습·추론 양쪽에 동일 적용 — keep-set 불일치가 곧 분포 이동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172968"/>
            <a:ext cx="5193792" cy="2514600"/>
          </a:xfrm>
          <a:prstGeom prst="roundRect">
            <a:avLst>
              <a:gd name="adj" fmla="val 5000"/>
            </a:avLst>
          </a:prstGeom>
          <a:solidFill>
            <a:srgbClr val="F7F1E4"/>
          </a:solidFill>
          <a:ln w="15875">
            <a:solidFill>
              <a:srgbClr val="B87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33756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8790C"/>
                </a:solidFill>
                <a:latin typeface="맑은 고딕"/>
                <a:ea typeface="맑은 고딕"/>
              </a:rPr>
              <a:t>현재 트랙 상태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675888"/>
            <a:ext cx="47548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B8790C"/>
                </a:solidFill>
                <a:latin typeface="맑은 고딕"/>
                <a:ea typeface="맑은 고딕"/>
              </a:rPr>
              <a:t>●  </a:t>
            </a:r>
            <a:r>
              <a:rPr sz="1250" b="0" i="0">
                <a:solidFill>
                  <a:srgbClr val="0B0B0B"/>
                </a:solidFill>
                <a:latin typeface="맑은 고딕"/>
                <a:ea typeface="맑은 고딕"/>
              </a:rPr>
              <a:t>SFT/DPO 가중치 축: 챔피언 대비 약 −2pp로 2026-07-21 트랙 종결 판정 (LB 슬롯 투입 금지)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B8790C"/>
                </a:solidFill>
                <a:latin typeface="맑은 고딕"/>
                <a:ea typeface="맑은 고딕"/>
              </a:rPr>
              <a:t>●  </a:t>
            </a:r>
            <a:r>
              <a:rPr sz="1250" b="0" i="0">
                <a:solidFill>
                  <a:srgbClr val="0B0B0B"/>
                </a:solidFill>
                <a:latin typeface="맑은 고딕"/>
                <a:ea typeface="맑은 고딕"/>
              </a:rPr>
              <a:t>프루닝 품질 축: 오늘(07-22) 모션 신호 블렌드로 저비용 재개 — 이 발표가 다루는 부분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아키텍처 개요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맑은 고딕"/>
                <a:ea typeface="맑은 고딕"/>
              </a:rPr>
              <a:t>02 · 아키텍처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왜 프루닝인가 — 문제의식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64008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550" b="0" i="0">
                <a:solidFill>
                  <a:srgbClr val="0B0B0B"/>
                </a:solidFill>
                <a:latin typeface="맑은 고딕"/>
                <a:ea typeface="맑은 고딕"/>
              </a:rPr>
              <a:t>고해상도 프레임 4장 → 샘플당 비주얼 토큰 약 4,400개, 32B VLM의 VRAM·프리필 비용을 직접 압박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550" b="0" i="0">
                <a:solidFill>
                  <a:srgbClr val="0B0B0B"/>
                </a:solidFill>
                <a:latin typeface="맑은 고딕"/>
                <a:ea typeface="맑은 고딕"/>
              </a:rPr>
              <a:t>캡션과 무관한 배경(하늘 · 눈밭 · 벽 타일 등)이 토큰 예산의 상당 부분을 차지 — 시간 순서 판별에는 기여하지 않음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550" b="0" i="0">
                <a:solidFill>
                  <a:srgbClr val="0B0B0B"/>
                </a:solidFill>
                <a:latin typeface="맑은 고딕"/>
                <a:ea typeface="맑은 고딕"/>
              </a:rPr>
              <a:t>가설: 캡션이 실제로 가리키는 시각 단서만 남기면(50% 컷) 정보 손실 없이 비용을 절반으로 줄일 수 있다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550" b="0" i="0">
                <a:solidFill>
                  <a:srgbClr val="0B0B0B"/>
                </a:solidFill>
                <a:latin typeface="맑은 고딕"/>
                <a:ea typeface="맑은 고딕"/>
              </a:rPr>
              <a:t>이 가설이 맞는지를 실물로 확인하는 것이 다음 §03의 목적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618488"/>
            <a:ext cx="4480560" cy="2331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82880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0B0B"/>
                </a:solidFill>
                <a:latin typeface="맑은 고딕"/>
                <a:ea typeface="맑은 고딕"/>
              </a:rPr>
              <a:t>핵심 트레이드오프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194560"/>
            <a:ext cx="4023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03B3B"/>
                </a:solidFill>
                <a:latin typeface="맑은 고딕"/>
                <a:ea typeface="맑은 고딕"/>
              </a:rPr>
              <a:t>너무 세게 자르면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50" b="0" i="0">
                <a:solidFill>
                  <a:srgbClr val="52514E"/>
                </a:solidFill>
                <a:latin typeface="맑은 고딕"/>
                <a:ea typeface="맑은 고딕"/>
              </a:rPr>
              <a:t>→ 정보 유실로 정확도 하락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B8790C"/>
                </a:solidFill>
                <a:latin typeface="맑은 고딕"/>
                <a:ea typeface="맑은 고딕"/>
              </a:rPr>
              <a:t>너무 약하게 자르면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50" b="0" i="0">
                <a:solidFill>
                  <a:srgbClr val="52514E"/>
                </a:solidFill>
                <a:latin typeface="맑은 고딕"/>
                <a:ea typeface="맑은 고딕"/>
              </a:rPr>
              <a:t>→ 비용 절감 효과가 없음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맑은 고딕"/>
                <a:ea typeface="맑은 고딕"/>
              </a:rPr>
              <a:t>캡션-조건부 선택이 이 트레이드오프를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맑은 고딕"/>
                <a:ea typeface="맑은 고딕"/>
              </a:rPr>
              <a:t>정확도 손실 없이 풀 수 있는가 — 이게 핵심 질문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문제의식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맑은 고딕"/>
                <a:ea typeface="맑은 고딕"/>
              </a:rPr>
              <a:t>02 · 아키텍처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Cross-Targeted FitPrune — 스코어링 메커니즘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66751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450" b="0" i="0">
                <a:solidFill>
                  <a:srgbClr val="0B0B0B"/>
                </a:solidFill>
                <a:latin typeface="맑은 고딕"/>
                <a:ea typeface="맑은 고딕"/>
              </a:rPr>
              <a:t>캡션 1문장을 4개 "이벤트"(절 단위)로 기계적 분해 — E1..E4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450" b="0" i="0">
                <a:solidFill>
                  <a:srgbClr val="0B0B0B"/>
                </a:solidFill>
                <a:latin typeface="맑은 고딕"/>
                <a:ea typeface="맑은 고딕"/>
              </a:rPr>
              <a:t>4장의 이미지 각각을 4개 이벤트 앵커와 코사인 유사도로 채점 → 이미지당 4×(패치 수) 크로스 스코어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450" b="0" i="0">
                <a:solidFill>
                  <a:srgbClr val="0B0B0B"/>
                </a:solidFill>
                <a:latin typeface="맑은 고딕"/>
                <a:ea typeface="맑은 고딕"/>
              </a:rPr>
              <a:t>모달리티별 자기평균 센터링 — 비전 패치는 이미지 센트로이드로, 캡션 앵커는 캡션 앵커 평균(μ_T)으로 각자 중심화 후 계산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450" b="0" i="0">
                <a:solidFill>
                  <a:srgbClr val="0B0B0B"/>
                </a:solidFill>
                <a:latin typeface="맑은 고딕"/>
                <a:ea typeface="맑은 고딕"/>
              </a:rPr>
              <a:t>이벤트 4개의 맵을 max-pool로 합쳐 이미지당 최종 중요도 산출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450" b="0" i="0">
                <a:solidFill>
                  <a:srgbClr val="0B0B0B"/>
                </a:solidFill>
                <a:latin typeface="맑은 고딕"/>
                <a:ea typeface="맑은 고딕"/>
              </a:rPr>
              <a:t>이후 objectness · MMR · motion 신호와 블렌드(뒤에서 설명), keep_ratio=50% 유지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572768"/>
            <a:ext cx="4023360" cy="1965960"/>
          </a:xfrm>
          <a:prstGeom prst="roundRect">
            <a:avLst>
              <a:gd name="adj" fmla="val 7000"/>
            </a:avLst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75564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CABEC"/>
                </a:solidFill>
                <a:latin typeface="맑은 고딕"/>
                <a:ea typeface="맑은 고딕"/>
              </a:rPr>
              <a:t>크로스 스코어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103120"/>
            <a:ext cx="3566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FFFFFF"/>
                </a:solidFill>
                <a:latin typeface="맑은 고딕"/>
                <a:ea typeface="맑은 고딕"/>
              </a:rPr>
              <a:t>score(v, e) = cos(v − μ</a:t>
            </a:r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V</a:t>
            </a:r>
            <a:r>
              <a:rPr sz="1450" b="0" i="0">
                <a:solidFill>
                  <a:srgbClr val="FFFFFF"/>
                </a:solidFill>
                <a:latin typeface="맑은 고딕"/>
                <a:ea typeface="맑은 고딕"/>
              </a:rPr>
              <a:t>, e − μ</a:t>
            </a:r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T</a:t>
            </a:r>
            <a:r>
              <a:rPr sz="1450" b="0" i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B8BDB4"/>
                </a:solidFill>
                <a:latin typeface="맑은 고딕"/>
                <a:ea typeface="맑은 고딕"/>
              </a:rPr>
              <a:t>v = 시각 패치 임베딩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8BDB4"/>
                </a:solidFill>
                <a:latin typeface="맑은 고딕"/>
                <a:ea typeface="맑은 고딕"/>
              </a:rPr>
              <a:t>e = 이벤트 텍스트 앵커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813048"/>
            <a:ext cx="4023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맑은 고딕"/>
                <a:ea typeface="맑은 고딕"/>
              </a:rPr>
              <a:t>4(이미지) × 4(이벤트) = 16개 크로스 스코어를 매 샘플마다 계산 → 이미지별로 "어느 이벤트와 가장 관련 있는가"가 자동으로 갈린다.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FitPrune 메커니즘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맑은 고딕"/>
                <a:ea typeface="맑은 고딕"/>
              </a:rPr>
              <a:t>03 · 시각화 워크스루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지금부터 보는 화면 읽는 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55648"/>
            <a:ext cx="457200" cy="320040"/>
          </a:xfrm>
          <a:prstGeom prst="rect">
            <a:avLst/>
          </a:prstGeom>
          <a:solidFill>
            <a:srgbClr val="2A78D6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70992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0B0B"/>
                </a:solidFill>
                <a:latin typeface="맑은 고딕"/>
                <a:ea typeface="맑은 고딕"/>
              </a:rPr>
              <a:t>블루 워시 (진할수록 진하게)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093976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맑은 고딕"/>
                <a:ea typeface="맑은 고딕"/>
              </a:rPr>
              <a:t>이벤트 중요도 / Objectness / Motion — 세 종류 신호 모두 같은 방식으로 표시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15768"/>
            <a:ext cx="457200" cy="320040"/>
          </a:xfrm>
          <a:prstGeom prst="rect">
            <a:avLst/>
          </a:prstGeom>
          <a:solidFill>
            <a:srgbClr val="2A78D6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6700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0B0B"/>
                </a:solidFill>
                <a:latin typeface="맑은 고딕"/>
                <a:ea typeface="맑은 고딕"/>
              </a:rPr>
              <a:t>블루 테두리 박스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054096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맑은 고딕"/>
                <a:ea typeface="맑은 고딕"/>
              </a:rPr>
              <a:t>KEPT 패치 — 프루닝을 통과해 실제로 LLM에 들어가는 부분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675888"/>
            <a:ext cx="457200" cy="320040"/>
          </a:xfrm>
          <a:prstGeom prst="rect">
            <a:avLst/>
          </a:prstGeom>
          <a:solidFill>
            <a:srgbClr val="898781"/>
          </a:solidFill>
          <a:ln w="19050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6301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0B0B"/>
                </a:solidFill>
                <a:latin typeface="맑은 고딕"/>
                <a:ea typeface="맑은 고딕"/>
              </a:rPr>
              <a:t>회색 페이드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14216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맑은 고딕"/>
                <a:ea typeface="맑은 고딕"/>
              </a:rPr>
              <a:t>PRUNED 패치 — 예산에서 잘려나가 모델이 보지 못하는 부분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681728"/>
            <a:ext cx="9601200" cy="594360"/>
          </a:xfrm>
          <a:prstGeom prst="roundRect">
            <a:avLst>
              <a:gd name="adj" fmla="val 1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791456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맑은 고딕"/>
                <a:ea typeface="맑은 고딕"/>
              </a:rPr>
              <a:t>격자 1칸 = merge된 비주얼 토큰 1개(원본 2×2 패치가 합쳐진 단위). 이하 모든 스크린샷은 실제 코드 실행 결과이며, 합성/모사 이미지가 아니다.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범례  ·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맑은 고딕"/>
                <a:ea typeface="맑은 고딕"/>
              </a:rPr>
              <a:t>03 · 시각화 워크스루 · HERO: TCM3GK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① 입력 — 셔플된 4장 + 캡션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cm_inpu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2496"/>
            <a:ext cx="11185855" cy="18607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767328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52514E"/>
                </a:solidFill>
                <a:latin typeface="맑은 고딕"/>
                <a:ea typeface="맑은 고딕"/>
              </a:rPr>
              <a:t>캡션: “The athlete begins to lift the barbell, then successfully raises it overhead, and finally moves to the podium for the medal ceremony, celebrating with others.”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544568"/>
            <a:ext cx="11185855" cy="1417320"/>
          </a:xfrm>
          <a:prstGeom prst="roundRect">
            <a:avLst>
              <a:gd name="adj" fmla="val 6000"/>
            </a:avLst>
          </a:prstGeom>
          <a:solidFill>
            <a:srgbClr val="F4ECDA"/>
          </a:solidFill>
          <a:ln w="13970">
            <a:solidFill>
              <a:srgbClr val="9669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6817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96690F"/>
                </a:solidFill>
                <a:latin typeface="맑은 고딕"/>
                <a:ea typeface="맑은 고딕"/>
              </a:rPr>
              <a:t>정답(Answer) = [4, 3, 1, 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74336"/>
            <a:ext cx="107286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B0B0B"/>
                </a:solidFill>
                <a:latin typeface="맑은 고딕"/>
                <a:ea typeface="맑은 고딕"/>
              </a:rPr>
              <a:t>즉 Input_1은 시간순 4번째, Input_2는 3번째, Input_3은 1번째, Input_4는 2번째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맑은 고딕"/>
                <a:ea typeface="맑은 고딕"/>
              </a:rPr>
              <a:t>실제 시간순:  </a:t>
            </a:r>
            <a:r>
              <a:rPr sz="1500" b="1" i="0">
                <a:solidFill>
                  <a:srgbClr val="96690F"/>
                </a:solidFill>
                <a:latin typeface="맑은 고딕"/>
                <a:ea typeface="맑은 고딕"/>
              </a:rPr>
              <a:t>Input_3 → Input_4 → Input_2 → Input_1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워크스루 · 입력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맑은 고딕"/>
                <a:ea typeface="맑은 고딕"/>
              </a:rPr>
              <a:t>03 · 시각화 워크스루 · HERO: TCM3GK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② 캡션의 각 절이 어디를 가리키는가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cm_img3_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34667"/>
            <a:ext cx="11185855" cy="18079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133088"/>
            <a:ext cx="1118585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350" b="0" i="0">
                <a:solidFill>
                  <a:srgbClr val="0B0B0B"/>
                </a:solidFill>
                <a:latin typeface="맑은 고딕"/>
                <a:ea typeface="맑은 고딕"/>
              </a:rPr>
              <a:t>img3(바벨을 잡고 웅크린 프레임)에 대해 E1~E4 이벤트별 코사인 중요도 — 파란 진하기 = 그 이벤트 텍스트와 이 패치가 얼마나 비슷한가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350" b="0" i="0">
                <a:solidFill>
                  <a:srgbClr val="0B0B0B"/>
                </a:solidFill>
                <a:latin typeface="맑은 고딕"/>
                <a:ea typeface="맑은 고딕"/>
              </a:rPr>
              <a:t>E1 “begins to lift the barbell”가 가장 강하게 반응해야 이 프레임이 “리프트 시작” 장면임을 모델이 알 수 있음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350" b="0" i="0">
                <a:solidFill>
                  <a:srgbClr val="0B0B0B"/>
                </a:solidFill>
                <a:latin typeface="맑은 고딕"/>
                <a:ea typeface="맑은 고딕"/>
              </a:rPr>
              <a:t>4개 맵이 서로 다른 영역에 반응 — 슬라이드 §이터레이션1에서 다룰 “맵이 전부 똑같아지는” 버그가 여기서 고쳐진 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워크스루 · 이벤트 히트맵  ·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맑은 고딕"/>
                <a:ea typeface="맑은 고딕"/>
              </a:rPr>
              <a:t>03 · 시각화 워크스루 · HERO: TCM3GK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③ 두 개의 보조 신호 — Objectness vs Motion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cm_img3_OB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533" y="1572768"/>
            <a:ext cx="3614821" cy="2377440"/>
          </a:xfrm>
          <a:prstGeom prst="rect">
            <a:avLst/>
          </a:prstGeom>
        </p:spPr>
      </p:pic>
      <p:pic>
        <p:nvPicPr>
          <p:cNvPr id="7" name="Picture 6" descr="tcm_img3_MO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340" y="1572768"/>
            <a:ext cx="3614821" cy="2377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" y="4087368"/>
            <a:ext cx="254025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1150" b="1" i="0">
                <a:solidFill>
                  <a:srgbClr val="2A78D6"/>
                </a:solidFill>
                <a:latin typeface="맑은 고딕"/>
                <a:ea typeface="맑은 고딕"/>
              </a:rPr>
              <a:t>OBJECTNESS · 2026-07-16 도입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0167" y="4087368"/>
            <a:ext cx="221310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1150" b="1" i="0">
                <a:solidFill>
                  <a:srgbClr val="4A3AA7"/>
                </a:solidFill>
                <a:latin typeface="맑은 고딕"/>
                <a:ea typeface="맑은 고딕"/>
              </a:rPr>
              <a:t>MOTION · 2026-07-22 신규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44568"/>
            <a:ext cx="541004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맑은 고딕"/>
                <a:ea typeface="맑은 고딕"/>
              </a:rPr>
              <a:t>센트로이드에서 얼마나 벗어났는가 — "이미지 평균과 다른 정도"로 정적 전경 물체를 탐지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4544568"/>
            <a:ext cx="541004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맑은 고딕"/>
                <a:ea typeface="맑은 고딕"/>
              </a:rPr>
              <a:t>같은 격자 위치에서 다른 3장과 얼마나 다른가 — 프레임마다 변하는(움직이는) 영역을 탐지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워크스루 · OBJ vs MOTION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맑은 고딕"/>
                <a:ea typeface="맑은 고딕"/>
              </a:rPr>
              <a:t>03 · 시각화 워크스루 · HERO: TCM3GK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④ 최종적으로 LLM이 실제로 보는 것 (KEPT 50%)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cm_img1_KEPT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87294"/>
            <a:ext cx="2727883" cy="17941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995928"/>
            <a:ext cx="27278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맑은 고딕"/>
                <a:ea typeface="맑은 고딕"/>
              </a:rPr>
              <a:t>img1 · 시상대</a:t>
            </a:r>
          </a:p>
        </p:txBody>
      </p:sp>
      <p:pic>
        <p:nvPicPr>
          <p:cNvPr id="8" name="Picture 7" descr="tcm_img2_KEPT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243" y="1887294"/>
            <a:ext cx="2727883" cy="17941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2243" y="3995928"/>
            <a:ext cx="27278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맑은 고딕"/>
                <a:ea typeface="맑은 고딕"/>
              </a:rPr>
              <a:t>img2 · 대기</a:t>
            </a:r>
          </a:p>
        </p:txBody>
      </p:sp>
      <p:pic>
        <p:nvPicPr>
          <p:cNvPr id="10" name="Picture 9" descr="tcm_img3_KEPT_on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567" y="1887294"/>
            <a:ext cx="2727883" cy="17941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41567" y="3995928"/>
            <a:ext cx="27278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맑은 고딕"/>
                <a:ea typeface="맑은 고딕"/>
              </a:rPr>
              <a:t>img3 · 그립</a:t>
            </a:r>
          </a:p>
        </p:txBody>
      </p:sp>
      <p:pic>
        <p:nvPicPr>
          <p:cNvPr id="12" name="Picture 11" descr="tcm_img4_KEPT_on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0891" y="1887294"/>
            <a:ext cx="2727883" cy="17941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60891" y="3995928"/>
            <a:ext cx="27278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맑은 고딕"/>
                <a:ea typeface="맑은 고딕"/>
              </a:rPr>
              <a:t>img4 · 웅크림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53128"/>
            <a:ext cx="11185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맑은 고딕"/>
                <a:ea typeface="맑은 고딕"/>
              </a:rPr>
              <a:t>파란 테두리 = kept, 회색 페이드 = pruned. 관중석·바닥 매트 등 배경은 대부분 페이드되고, 선수의 몸통·팔·바벨 플레이트처럼 시간에 따라 달라지는 전경은 유지된다 — 토큰 예산이 절반으로 줄어도 “무엇이 바뀌는가”를 판별할 재료는 남는다는 것이 이 파이프라인의 핵심 주장.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워크스루 · KEPT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03B3B"/>
                </a:solidFill>
                <a:latin typeface="맑은 고딕"/>
                <a:ea typeface="맑은 고딕"/>
              </a:rPr>
              <a:t>SECTION 1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743200"/>
            <a:ext cx="1118585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R&amp;D 스토리 — 두 번의 버그, 두 번의 수정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94760"/>
            <a:ext cx="109343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B8BDB4"/>
                </a:solidFill>
                <a:latin typeface="맑은 고딕"/>
                <a:ea typeface="맑은 고딕"/>
              </a:rPr>
              <a:t>프루닝을 실전에 쓰기까지 실제로 무엇이 잘못됐고, 무엇을 근거로 고쳤는가 (2026-07-16)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12848"/>
            <a:ext cx="822960" cy="5080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03B3B"/>
                </a:solidFill>
                <a:latin typeface="맑은 고딕"/>
                <a:ea typeface="맑은 고딕"/>
              </a:rPr>
              <a:t>04 · 이터레이션 1 · 2026-07-16 오전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Anisotropy — 4개 이벤트 맵이 전부 똑같아진다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18488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 i="0">
                <a:solidFill>
                  <a:srgbClr val="D03B3B"/>
                </a:solidFill>
                <a:latin typeface="맑은 고딕"/>
                <a:ea typeface="맑은 고딕"/>
              </a:rPr>
              <a:t>●  </a:t>
            </a:r>
            <a:r>
              <a:rPr sz="1500" b="0" i="0">
                <a:solidFill>
                  <a:srgbClr val="0B0B0B"/>
                </a:solidFill>
                <a:latin typeface="맑은 고딕"/>
                <a:ea typeface="맑은 고딕"/>
              </a:rPr>
              <a:t>센터링 없이 코사인만 쓰면, 비전 패치들의 "공유 방향"(센트로이드)이 모든 이벤트 앵커에도 함께 실려 4개 이벤트의 중요도 맵이 사실상 동일해지는 rank-1 퇴화가 발생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 i="0">
                <a:solidFill>
                  <a:srgbClr val="D03B3B"/>
                </a:solidFill>
                <a:latin typeface="맑은 고딕"/>
                <a:ea typeface="맑은 고딕"/>
              </a:rPr>
              <a:t>●  </a:t>
            </a:r>
            <a:r>
              <a:rPr sz="1500" b="0" i="0">
                <a:solidFill>
                  <a:srgbClr val="0B0B0B"/>
                </a:solidFill>
                <a:latin typeface="맑은 고딕"/>
                <a:ea typeface="맑은 고딕"/>
              </a:rPr>
              <a:t>결과: 이벤트별로 서로 다른 곳을 봐야 하는데, 실제로는 하나의 흐릿한 맵만 4번 복제하고 있었음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67328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FBEDEC"/>
          </a:solidFill>
          <a:ln w="1397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9684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D03B3B"/>
                </a:solidFill>
                <a:latin typeface="맑은 고딕"/>
                <a:ea typeface="맑은 고딕"/>
              </a:rPr>
              <a:t>실측 (32B embed 테이블, 400개 캡션)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1596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B0B0B"/>
                </a:solidFill>
                <a:latin typeface="맑은 고딕"/>
                <a:ea typeface="맑은 고딕"/>
              </a:rPr>
              <a:t>이벤트 평균방향 쌍코사인  </a:t>
            </a:r>
            <a:r>
              <a:rPr sz="1700" b="1" i="0">
                <a:solidFill>
                  <a:srgbClr val="D03B3B"/>
                </a:solidFill>
                <a:latin typeface="맑은 고딕"/>
                <a:ea typeface="맑은 고딕"/>
              </a:rPr>
              <a:t>raw +0.20</a:t>
            </a:r>
            <a:r>
              <a:rPr sz="1300" b="0" i="0">
                <a:solidFill>
                  <a:srgbClr val="52514E"/>
                </a:solidFill>
                <a:latin typeface="맑은 고딕"/>
                <a:ea typeface="맑은 고딕"/>
              </a:rPr>
              <a:t>  — 이벤트 4개가 서로 강하게 닮아 있었다는 뜻(0에 가까울수록 독립적)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이터레이션 1 · 문제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CA30C"/>
                </a:solidFill>
                <a:latin typeface="맑은 고딕"/>
                <a:ea typeface="맑은 고딕"/>
              </a:rPr>
              <a:t>04 · 이터레이션 1 · 수정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모달리티별 자기평균 센터링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18488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0CA30C"/>
                </a:solidFill>
                <a:latin typeface="맑은 고딕"/>
                <a:ea typeface="맑은 고딕"/>
              </a:rPr>
              <a:t>●  </a:t>
            </a:r>
            <a:r>
              <a:rPr sz="1500" b="0" i="0">
                <a:solidFill>
                  <a:srgbClr val="0B0B0B"/>
                </a:solidFill>
                <a:latin typeface="맑은 고딕"/>
                <a:ea typeface="맑은 고딕"/>
              </a:rPr>
              <a:t>비전 패치는 "이 이미지 패치들의 평균"으로, 캡션 앵커는 "캡션 앵커들의 평균(μ_T)"으로 — 각자 따로 중심화한 뒤 코사인 계산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0CA30C"/>
                </a:solidFill>
                <a:latin typeface="맑은 고딕"/>
                <a:ea typeface="맑은 고딕"/>
              </a:rPr>
              <a:t>●  </a:t>
            </a:r>
            <a:r>
              <a:rPr sz="1500" b="0" i="0">
                <a:solidFill>
                  <a:srgbClr val="0B0B0B"/>
                </a:solidFill>
                <a:latin typeface="맑은 고딕"/>
                <a:ea typeface="맑은 고딕"/>
              </a:rPr>
              <a:t>diversity(farthest-point) 선택도 같은 센터링 공간에서 수행 — 선택 경로 전체가 일관됨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72968"/>
            <a:ext cx="10515600" cy="1234440"/>
          </a:xfrm>
          <a:prstGeom prst="roundRect">
            <a:avLst>
              <a:gd name="adj" fmla="val 7000"/>
            </a:avLst>
          </a:prstGeom>
          <a:solidFill>
            <a:srgbClr val="E9F7EC"/>
          </a:solidFill>
          <a:ln w="1397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355847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CA30C"/>
                </a:solidFill>
                <a:latin typeface="맑은 고딕"/>
                <a:ea typeface="맑은 고딕"/>
              </a:rPr>
              <a:t>효과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94176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B0B0B"/>
                </a:solidFill>
                <a:latin typeface="맑은 고딕"/>
                <a:ea typeface="맑은 고딕"/>
              </a:rPr>
              <a:t>쌍코사인  +0.20 → </a:t>
            </a:r>
            <a:r>
              <a:rPr sz="1800" b="1" i="0">
                <a:solidFill>
                  <a:srgbClr val="0CA30C"/>
                </a:solidFill>
                <a:latin typeface="맑은 고딕"/>
                <a:ea typeface="맑은 고딕"/>
              </a:rPr>
              <a:t>−0.33</a:t>
            </a:r>
            <a:r>
              <a:rPr sz="1300" b="0" i="0">
                <a:solidFill>
                  <a:srgbClr val="52514E"/>
                </a:solidFill>
                <a:latin typeface="맑은 고딕"/>
                <a:ea typeface="맑은 고딕"/>
              </a:rPr>
              <a:t>  (4벡터 이론 최대 대비 −1/3만큼 벌어짐) · 전수 9,535건 train 캡션에서 단일-앵커 퇴화 0건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3600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898781"/>
                </a:solidFill>
                <a:latin typeface="맑은 고딕"/>
                <a:ea typeface="맑은 고딕"/>
              </a:rPr>
              <a:t>커밋 24da29e (모달리티별 센터링) → 이후 §이터레이션2가 이 위에서 드러난 별개의 실패 모드를 다룬다.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이터레이션 1 · 수정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0A98F"/>
                </a:solidFill>
                <a:latin typeface="맑은 고딕"/>
                <a:ea typeface="맑은 고딕"/>
              </a:rPr>
              <a:t>04 · 이터레이션 2 · 2026-07-16 오후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“Stuff-over-things” — 배경이 순서 판별 물체를 밀어낸다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1185855" cy="1051560"/>
          </a:xfrm>
          <a:prstGeom prst="roundRect">
            <a:avLst>
              <a:gd name="adj" fmla="val 8000"/>
            </a:avLst>
          </a:prstGeom>
          <a:solidFill>
            <a:srgbClr val="241713"/>
          </a:solidFill>
          <a:ln w="12700">
            <a:solidFill>
              <a:srgbClr val="6B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372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0A98F"/>
                </a:solidFill>
                <a:latin typeface="맑은 고딕"/>
                <a:ea typeface="맑은 고딕"/>
              </a:rPr>
              <a:t>살아남는 것: </a:t>
            </a:r>
            <a:r>
              <a:rPr sz="1450" b="0" i="0">
                <a:solidFill>
                  <a:srgbClr val="E7E5DE"/>
                </a:solidFill>
                <a:latin typeface="맑은 고딕"/>
                <a:ea typeface="맑은 고딕"/>
              </a:rPr>
              <a:t>물 표면, 눈밭, 하늘, 벽 타일 — 캡션 장면 명사와 매칭되는 대면적 균질 텍스처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0A98F"/>
                </a:solidFill>
                <a:latin typeface="맑은 고딕"/>
                <a:ea typeface="맑은 고딕"/>
              </a:rPr>
              <a:t>잘리는 것: </a:t>
            </a:r>
            <a:r>
              <a:rPr sz="1450" b="0" i="0">
                <a:solidFill>
                  <a:srgbClr val="E7E5DE"/>
                </a:solidFill>
                <a:latin typeface="맑은 고딕"/>
                <a:ea typeface="맑은 고딕"/>
              </a:rPr>
              <a:t>스키어, 공, 흰 수영모, 얼굴, 노란 렌즈 — 시간 순서를 실제로 판별하는 소형 전경 물체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788920"/>
            <a:ext cx="11185855" cy="960120"/>
          </a:xfrm>
          <a:prstGeom prst="roundRect">
            <a:avLst>
              <a:gd name="adj" fmla="val 8000"/>
            </a:avLst>
          </a:prstGeom>
          <a:solidFill>
            <a:srgbClr val="241713"/>
          </a:solidFill>
          <a:ln w="12700">
            <a:solidFill>
              <a:srgbClr val="6B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99232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i="1">
                <a:solidFill>
                  <a:srgbClr val="F0A98F"/>
                </a:solidFill>
                <a:latin typeface="맑은 고딕"/>
                <a:ea typeface="맑은 고딕"/>
              </a:rPr>
              <a:t>“스키 샘플에서는 E4(a skier moves forward and jumps onto a rail)의 유일한 단서인 스키어 몸통이 img3·img4에서 거의 전부 프루닝됐다.”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77639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C9690"/>
                </a:solidFill>
                <a:latin typeface="맑은 고딕"/>
                <a:ea typeface="맑은 고딕"/>
              </a:rPr>
              <a:t>출처: runs/prune_viz 실측 3건(스키·수영·렌즈) — 육안 확인, 2026-07-16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즉 프루닝이 “순서 추론에 필요한 재료”를 정확히 골라서 버리고 있었다.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이터레이션 2 · 문제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03B3B"/>
                </a:solidFill>
                <a:latin typeface="맑은 고딕"/>
                <a:ea typeface="맑은 고딕"/>
              </a:rPr>
              <a:t>04 · 이터레이션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원인 3가지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18488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B0B0B"/>
                </a:solidFill>
                <a:latin typeface="맑은 고딕"/>
                <a:ea typeface="맑은 고딕"/>
              </a:rPr>
              <a:t>① 장면 명사의 예산 독식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02536"/>
            <a:ext cx="109572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2514E"/>
                </a:solidFill>
                <a:latin typeface="맑은 고딕"/>
                <a:ea typeface="맑은 고딕"/>
              </a:rPr>
              <a:t>text_pool=max라서 물 패치 수백 개가 각각 "pool" 앵커와 높은 코사인을 얻는다. top-k는 중복 개념을 걸러내지 않으므로 서로 거의 동일한 배경 패치가 예산 대부분을 채운다.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B0B0B"/>
                </a:solidFill>
                <a:latin typeface="맑은 고딕"/>
                <a:ea typeface="맑은 고딕"/>
              </a:rPr>
              <a:t>② 소형 물체의 2×2 머지 희석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72968"/>
            <a:ext cx="109572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2514E"/>
                </a:solidFill>
                <a:latin typeface="맑은 고딕"/>
                <a:ea typeface="맑은 고딕"/>
              </a:rPr>
              <a:t>공 · 모자 · 렌즈는 머지 셀 하나보다 작아 배경과 평균되면서 앵커와의 코사인이 낮아진다.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959352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B0B0B"/>
                </a:solidFill>
                <a:latin typeface="맑은 고딕"/>
                <a:ea typeface="맑은 고딕"/>
              </a:rPr>
              <a:t>③ 센터링의 부작용 — 객체성 신호 소거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43400"/>
            <a:ext cx="109572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2514E"/>
                </a:solidFill>
                <a:latin typeface="맑은 고딕"/>
                <a:ea typeface="맑은 고딕"/>
              </a:rPr>
              <a:t>residual을 unit-normalize하면서 "이미지 평균에서 얼마나 벗어났는가"라는 크기 정보(전경일수록 큼)를 버린다. 배경 패치는 정규화 후 방향 노이즈가 증폭돼 우연히 앵커와 정렬될 수 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이터레이션 2 · 원인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CA30C"/>
                </a:solidFill>
                <a:latin typeface="맑은 고딕"/>
                <a:ea typeface="맑은 고딕"/>
              </a:rPr>
              <a:t>04 · 이터레이션 2 · 수정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Objectness 블렌드 + MMR 선택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5074920" cy="2286000"/>
          </a:xfrm>
          <a:prstGeom prst="roundRect">
            <a:avLst>
              <a:gd name="adj" fmla="val 5000"/>
            </a:avLst>
          </a:prstGeom>
          <a:solidFill>
            <a:srgbClr val="FCFCFB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A78D6"/>
                </a:solidFill>
                <a:latin typeface="맑은 고딕"/>
                <a:ea typeface="맑은 고딕"/>
              </a:rPr>
              <a:t>① 객체성 블렌드  (w = 0.3)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0B0B0B"/>
                </a:solidFill>
                <a:latin typeface="맑은 고딕"/>
                <a:ea typeface="맑은 고딕"/>
              </a:rPr>
              <a:t>score = (1−w)·minmax(cos) + w·minmax(‖v−centroid‖)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15768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맑은 고딕"/>
                <a:ea typeface="맑은 고딕"/>
              </a:rPr>
              <a:t>각 토큰의 센트로이드-residual norm(정규화가 버리던 크기 정보)을 per-image min-max 후 코사인과 가중합. w=0이면 코사인 랭킹 완전 보존(회귀 불변량).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572768"/>
            <a:ext cx="5166360" cy="2286000"/>
          </a:xfrm>
          <a:prstGeom prst="roundRect">
            <a:avLst>
              <a:gd name="adj" fmla="val 5000"/>
            </a:avLst>
          </a:prstGeom>
          <a:solidFill>
            <a:srgbClr val="FCFCFB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755648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AF7A"/>
                </a:solidFill>
                <a:latin typeface="맑은 고딕"/>
                <a:ea typeface="맑은 고딕"/>
              </a:rPr>
              <a:t>② MMR 선택  (λ = 0.5)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194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0B0B0B"/>
                </a:solidFill>
                <a:latin typeface="맑은 고딕"/>
                <a:ea typeface="맑은 고딕"/>
              </a:rPr>
              <a:t>argmax( scoreᵢ − λ·relu(max_{j∈kept} cos(vᵢ,vⱼ))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715768"/>
            <a:ext cx="4709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맑은 고딕"/>
                <a:ea typeface="맑은 고딕"/>
              </a:rPr>
              <a:t>top-k+diversity-fill 2단 선택을 예산 전체에 대한 greedy MMR로 교체. 중복 배경은 소수 대표로 압축되고 남는 예산이 새 내용(전경)으로 흐른다. λ 하한 유도: λ &gt; 1−2w = 0.4 → 0.5는 여유분.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87368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898781"/>
                </a:solidFill>
                <a:latin typeface="맑은 고딕"/>
                <a:ea typeface="맑은 고딕"/>
              </a:rPr>
              <a:t>불변량: objectness_weight=0, mmr_lambda=0 → 이전 파이프라인과 keep-set 비트 단위 완전 동일 (test_legacy_path_via_zero_flags_matches_old_selection으로 고정)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이터레이션 2 · 수정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맑은 고딕"/>
                <a:ea typeface="맑은 고딕"/>
              </a:rPr>
              <a:t>04 · 이터레이션 2 ·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keep-set이 실제로 돌아왔는가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18488"/>
            <a:ext cx="1118585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 i="0">
                <a:solidFill>
                  <a:srgbClr val="0CA30C"/>
                </a:solidFill>
                <a:latin typeface="맑은 고딕"/>
                <a:ea typeface="맑은 고딕"/>
              </a:rPr>
              <a:t>●  </a:t>
            </a:r>
            <a:r>
              <a:rPr sz="1500" b="0" i="0">
                <a:solidFill>
                  <a:srgbClr val="0B0B0B"/>
                </a:solidFill>
                <a:latin typeface="맑은 고딕"/>
                <a:ea typeface="맑은 고딕"/>
              </a:rPr>
              <a:t>CPU 테스트 63개 통과 — 전경 구제 회귀, MMR 중복압축, 결정성, 예산/정렬 불변량, legacy 경로 일치 포함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 i="0">
                <a:solidFill>
                  <a:srgbClr val="0CA30C"/>
                </a:solidFill>
                <a:latin typeface="맑은 고딕"/>
                <a:ea typeface="맑은 고딕"/>
              </a:rPr>
              <a:t>●  </a:t>
            </a:r>
            <a:r>
              <a:rPr sz="1500" b="0" i="0">
                <a:solidFill>
                  <a:srgbClr val="0B0B0B"/>
                </a:solidFill>
                <a:latin typeface="맑은 고딕"/>
                <a:ea typeface="맑은 고딕"/>
              </a:rPr>
              <a:t>동일 샘플 3건 재렌더(2026-07-16 22:52): 스키어 머리·상체, 낚시 구멍, 바위 위 그룹+빨간 보트, 물속 수영선수, 눈+손+렌즈, 테이블의 여성 — 이전에 잘리던 단서가 전부 keep-set으로 복귀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630168"/>
            <a:ext cx="11185855" cy="868680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3970">
            <a:solidFill>
              <a:srgbClr val="B87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813048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B8790C"/>
                </a:solidFill>
                <a:latin typeface="맑은 고딕"/>
                <a:ea typeface="맑은 고딕"/>
              </a:rPr>
              <a:t>제약: keep-set이 또 바뀌므로 이 시점 이전 프루닝 선택과의 A/B 비교는 무효(시간·VRAM 측정치는 유효, parity 게이트는 프루닝 선택과 무관해 영향 없음).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2744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98781"/>
                </a:solidFill>
                <a:latin typeface="맑은 고딕"/>
                <a:ea typeface="맑은 고딕"/>
              </a:rPr>
              <a:t>지금부터 보이는 모든 시각화(§03의 TcM3Gk 등)는 이 수정이 이미 반영된 “현재” 상태다.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이터레이션 2 · 검증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A3AA7"/>
                </a:solidFill>
                <a:latin typeface="맑은 고딕"/>
                <a:ea typeface="맑은 고딕"/>
              </a:rPr>
              <a:t>SECTION 2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743200"/>
            <a:ext cx="1118585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이터레이션 3 — 모션 신호 (오늘, 2026-07-22)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94760"/>
            <a:ext cx="109343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B8BDB4"/>
                </a:solidFill>
                <a:latin typeface="맑은 고딕"/>
                <a:ea typeface="맑은 고딕"/>
              </a:rPr>
              <a:t>이미 "트랙 종결" 판정을 받은 지 하루 만에, 왜 다시 열었나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12848"/>
            <a:ext cx="822960" cy="508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A3AA7"/>
                </a:solidFill>
                <a:latin typeface="맑은 고딕"/>
                <a:ea typeface="맑은 고딕"/>
              </a:rPr>
              <a:t>06 · 이터레이션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새 단서 — 캡션 의존도 진단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18488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898781"/>
                </a:solidFill>
                <a:latin typeface="맑은 고딕"/>
                <a:ea typeface="맑은 고딕"/>
              </a:rPr>
              <a:t>07-21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618488"/>
            <a:ext cx="100885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B0B0B"/>
                </a:solidFill>
                <a:latin typeface="맑은 고딕"/>
                <a:ea typeface="맑은 고딕"/>
              </a:rPr>
              <a:t>Ver11은 챔피언 대비 약 −2pp로 트랙 종결 판정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78608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4A3AA7"/>
                </a:solidFill>
                <a:latin typeface="맑은 고딕"/>
                <a:ea typeface="맑은 고딕"/>
              </a:rPr>
              <a:t>07-22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578608"/>
            <a:ext cx="100885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B0B0B"/>
                </a:solidFill>
                <a:latin typeface="맑은 고딕"/>
                <a:ea typeface="맑은 고딕"/>
              </a:rPr>
              <a:t>같은 날, 챔피언(Ver8) 쪽에서 별도로 캡션 의존도를 진단 — 캡션을 아예 지워도 이미지만으로 정답률이 랜덤(1/24=0.042)의 5배(0.21)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0168"/>
            <a:ext cx="11185855" cy="1554480"/>
          </a:xfrm>
          <a:prstGeom prst="roundRect">
            <a:avLst>
              <a:gd name="adj" fmla="val 6000"/>
            </a:avLst>
          </a:prstGeom>
          <a:solidFill>
            <a:srgbClr val="EFEBFA"/>
          </a:solidFill>
          <a:ln w="1524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8130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A3AA7"/>
                </a:solidFill>
                <a:latin typeface="맑은 고딕"/>
                <a:ea typeface="맑은 고딕"/>
              </a:rPr>
              <a:t>함의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33088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B0B0B"/>
                </a:solidFill>
                <a:latin typeface="맑은 고딕"/>
                <a:ea typeface="맑은 고딕"/>
              </a:rPr>
              <a:t>프루닝이 “캡션 단어와 무관하지만 실제로 유용한 정보(움직임 · 전경 물체)”를 구조적으로 버리고 있을 가능성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3600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4A3AA7"/>
                </a:solidFill>
                <a:latin typeface="맑은 고딕"/>
                <a:ea typeface="맑은 고딕"/>
              </a:rPr>
              <a:t>→ 가설: </a:t>
            </a:r>
            <a:r>
              <a:rPr sz="1350" b="0" i="0">
                <a:solidFill>
                  <a:srgbClr val="0B0B0B"/>
                </a:solidFill>
                <a:latin typeface="맑은 고딕"/>
                <a:ea typeface="맑은 고딕"/>
              </a:rPr>
              <a:t>4프레임 간 “달라지는 부분”(모션) 신호를 추가하면 이 손실을 메울 수 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이터레이션 3 · 동기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A3AA7"/>
                </a:solidFill>
                <a:latin typeface="맑은 고딕"/>
                <a:ea typeface="맑은 고딕"/>
              </a:rPr>
              <a:t>06 · 이터레이션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저비용 검증 — 재학습 전에 상관관계부터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spear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91" y="1527048"/>
            <a:ext cx="6791498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1755648"/>
            <a:ext cx="4023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B0B0B"/>
                </a:solidFill>
                <a:latin typeface="맑은 고딕"/>
                <a:ea typeface="맑은 고딕"/>
              </a:rPr>
              <a:t>235개 정렬가능 샘플 × 4이미지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50" b="0" i="0">
                <a:solidFill>
                  <a:srgbClr val="0B0B0B"/>
                </a:solidFill>
                <a:latin typeface="맑은 고딕"/>
                <a:ea typeface="맑은 고딕"/>
              </a:rPr>
              <a:t>= 940건 비교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14E"/>
                </a:solidFill>
                <a:latin typeface="맑은 고딕"/>
                <a:ea typeface="맑은 고딕"/>
              </a:rPr>
              <a:t>기존 runs/frame_contrast 캐시 재사용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250" b="0" i="0">
                <a:solidFill>
                  <a:srgbClr val="52514E"/>
                </a:solidFill>
                <a:latin typeface="맑은 고딕"/>
                <a:ea typeface="맑은 고딕"/>
              </a:rPr>
              <a:t>추가 GPU 비용 0 · 17초 소요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3813048"/>
            <a:ext cx="4023360" cy="1600200"/>
          </a:xfrm>
          <a:prstGeom prst="roundRect">
            <a:avLst>
              <a:gd name="adj" fmla="val 6000"/>
            </a:avLst>
          </a:prstGeom>
          <a:solidFill>
            <a:srgbClr val="EFEBFA"/>
          </a:solidFill>
          <a:ln w="1397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968496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B0B0B"/>
                </a:solidFill>
                <a:latin typeface="맑은 고딕"/>
                <a:ea typeface="맑은 고딕"/>
              </a:rPr>
              <a:t>모션 점수가 실제 전경 물체를 잘 잡고(objectness와 강한 양의 상관), 기존 캡션-코사인 신호와는 거의 겹치지 않는(상보적) 정보 — 07-21에 기각된 “어텐션 수확”(+0.066)보다 훨씬 강함.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이터레이션 3 · 저비용 검증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A3AA7"/>
                </a:solidFill>
                <a:latin typeface="맑은 고딕"/>
                <a:ea typeface="맑은 고딕"/>
              </a:rPr>
              <a:t>06 · 이터레이션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모션 신호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11185855" cy="960120"/>
          </a:xfrm>
          <a:prstGeom prst="roundRect">
            <a:avLst>
              <a:gd name="adj" fmla="val 10000"/>
            </a:avLst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00784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FFFFFF"/>
                </a:solidFill>
                <a:latin typeface="맑은 고딕"/>
                <a:ea typeface="맑은 고딕"/>
              </a:rPr>
              <a:t>motion(i) = mean</a:t>
            </a:r>
            <a:r>
              <a:rPr sz="1100" b="0" i="0">
                <a:solidFill>
                  <a:srgbClr val="B8BDB4"/>
                </a:solidFill>
                <a:latin typeface="맑은 고딕"/>
                <a:ea typeface="맑은 고딕"/>
              </a:rPr>
              <a:t> j≠i </a:t>
            </a:r>
            <a:r>
              <a:rPr sz="1650" b="0" i="0">
                <a:solidFill>
                  <a:srgbClr val="C9B3F0"/>
                </a:solidFill>
                <a:latin typeface="맑은 고딕"/>
                <a:ea typeface="맑은 고딕"/>
              </a:rPr>
              <a:t>‖ vᵢ − vⱼ ‖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B8BDB4"/>
                </a:solidFill>
                <a:latin typeface="맑은 고딕"/>
                <a:ea typeface="맑은 고딕"/>
              </a:rPr>
              <a:t>같은 격자 위치에서, 이 이미지(i)의 토큰이 다른 3장과 얼마나 다른가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61488"/>
            <a:ext cx="1118585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4A3AA7"/>
                </a:solidFill>
                <a:latin typeface="맑은 고딕"/>
                <a:ea typeface="맑은 고딕"/>
              </a:rPr>
              <a:t>●  </a:t>
            </a:r>
            <a:r>
              <a:rPr sz="1400" b="0" i="0">
                <a:solidFill>
                  <a:srgbClr val="0B0B0B"/>
                </a:solidFill>
                <a:latin typeface="맑은 고딕"/>
                <a:ea typeface="맑은 고딕"/>
              </a:rPr>
              <a:t>3항 블렌드:  w_cos·cos + w_obj·objectness + w_mot·motion   (w_cos + w_obj + w_mot = 1)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4A3AA7"/>
                </a:solidFill>
                <a:latin typeface="맑은 고딕"/>
                <a:ea typeface="맑은 고딕"/>
              </a:rPr>
              <a:t>●  </a:t>
            </a:r>
            <a:r>
              <a:rPr sz="1400" b="0" i="0">
                <a:solidFill>
                  <a:srgbClr val="0B0B0B"/>
                </a:solidFill>
                <a:latin typeface="맑은 고딕"/>
                <a:ea typeface="맑은 고딕"/>
              </a:rPr>
              <a:t>안전장치 — 그리드 불일치 폴백: 4장의 토큰 수(N)가 다르면(실측 22%, 원본 해상도 차이) motion 항을 생략하고 cos+objectness로 자동 폴백. 크래시 없음.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4A3AA7"/>
                </a:solidFill>
                <a:latin typeface="맑은 고딕"/>
                <a:ea typeface="맑은 고딕"/>
              </a:rPr>
              <a:t>●  </a:t>
            </a:r>
            <a:r>
              <a:rPr sz="1400" b="0" i="0">
                <a:solidFill>
                  <a:srgbClr val="0B0B0B"/>
                </a:solidFill>
                <a:latin typeface="맑은 고딕"/>
                <a:ea typeface="맑은 고딕"/>
              </a:rPr>
              <a:t>회귀 불변량: motion_weight = 0.0 → 기존 코드와 비트 단위 완전 동일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910328"/>
            <a:ext cx="4206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1150" b="1" i="0">
                <a:solidFill>
                  <a:srgbClr val="0CA30C"/>
                </a:solidFill>
                <a:latin typeface="맑은 고딕"/>
                <a:ea typeface="맑은 고딕"/>
              </a:rPr>
              <a:t>신규 6개 포함 88개 테스트 전부 통과 (커밋 ec531c5)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이터레이션 3 · 신호 설계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A3AA7"/>
                </a:solidFill>
                <a:latin typeface="맑은 고딕"/>
                <a:ea typeface="맑은 고딕"/>
              </a:rPr>
              <a:t>06 · 이터레이션 3 · HERO: DIZI5G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실측 — 모션 블렌드가 실제로 keep-set을 바꾸는가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z_img2_MOTION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94" y="1572768"/>
            <a:ext cx="3475789" cy="2286000"/>
          </a:xfrm>
          <a:prstGeom prst="rect">
            <a:avLst/>
          </a:prstGeom>
        </p:spPr>
      </p:pic>
      <p:pic>
        <p:nvPicPr>
          <p:cNvPr id="7" name="Picture 6" descr="diz_img2_KEPT_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953" y="1572768"/>
            <a:ext cx="3475789" cy="2286000"/>
          </a:xfrm>
          <a:prstGeom prst="rect">
            <a:avLst/>
          </a:prstGeom>
        </p:spPr>
      </p:pic>
      <p:pic>
        <p:nvPicPr>
          <p:cNvPr id="8" name="Picture 7" descr="diz_img2_KEPT_mo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011" y="1572768"/>
            <a:ext cx="3475789" cy="2286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60120" y="3904488"/>
            <a:ext cx="100088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1150" b="1" i="0">
                <a:solidFill>
                  <a:srgbClr val="4A3AA7"/>
                </a:solidFill>
                <a:latin typeface="맑은 고딕"/>
                <a:ea typeface="맑은 고딕"/>
              </a:rPr>
              <a:t>MOTION 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34458" y="3904488"/>
            <a:ext cx="185673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1150" b="1" i="0">
                <a:solidFill>
                  <a:srgbClr val="898781"/>
                </a:solidFill>
                <a:latin typeface="맑은 고딕"/>
                <a:ea typeface="맑은 고딕"/>
              </a:rPr>
              <a:t>KEPT · 모션 0 (기존)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5956" y="3904488"/>
            <a:ext cx="202031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1150" b="1" i="0">
                <a:solidFill>
                  <a:srgbClr val="4A3AA7"/>
                </a:solidFill>
                <a:latin typeface="맑은 고딕"/>
                <a:ea typeface="맑은 고딕"/>
              </a:rPr>
              <a:t>KEPT · 모션 0.3 (오늘)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407408"/>
            <a:ext cx="1118585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맑은 고딕"/>
                <a:ea typeface="맑은 고딕"/>
              </a:rPr>
              <a:t>같은 프레임(diZi5g · img2), 같은 코드베이스로 오늘 재렌더 — 모션 항을 켜고 끄는 것만 다르다. 두 스키어 실루엣 하단부와 팔 주변에서 kept 패치 패턴이 달라진다: 실질적인 변화이되, 과장 없이 “일부 영역이 달라지는 수준”으로 관찰됨(이미 objectness가 사람 형태 대부분을 이미 잡고 있어 겹치는 영역이 크다는 것 자체가 §저비용검증의 “상보적이되 완전히 다르지는 않다”는 결과와 일치).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이터레이션 3 · Before/After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A3AA7"/>
                </a:solidFill>
                <a:latin typeface="맑은 고딕"/>
                <a:ea typeface="맑은 고딕"/>
              </a:rPr>
              <a:t>06 · 이터레이션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안전장치 시연 — 그리드 불일치 시 자동 폴백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7_img1_MOTION_fall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772" y="1572768"/>
            <a:ext cx="3396342" cy="2651760"/>
          </a:xfrm>
          <a:prstGeom prst="rect">
            <a:avLst/>
          </a:prstGeom>
        </p:spPr>
      </p:pic>
      <p:pic>
        <p:nvPicPr>
          <p:cNvPr id="7" name="Picture 6" descr="u7_img1_K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580" y="1572768"/>
            <a:ext cx="3396342" cy="2651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05840" y="4270248"/>
            <a:ext cx="2309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1150" b="1" i="0">
                <a:solidFill>
                  <a:srgbClr val="898781"/>
                </a:solidFill>
                <a:latin typeface="맑은 고딕"/>
                <a:ea typeface="맑은 고딕"/>
              </a:rPr>
              <a:t>MOTION 항 (u7w0lr · img1)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90207" y="4270248"/>
            <a:ext cx="20582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/>
          <a:lstStyle/>
          <a:p>
            <a:pPr algn="ctr"/>
            <a:r>
              <a:rPr sz="1150" b="1" i="0">
                <a:solidFill>
                  <a:srgbClr val="0CA30C"/>
                </a:solidFill>
                <a:latin typeface="맑은 고딕"/>
                <a:ea typeface="맑은 고딕"/>
              </a:rPr>
              <a:t>최종 KEPT — 여전히 정상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27448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맑은 고딕"/>
                <a:ea typeface="맑은 고딕"/>
              </a:rPr>
              <a:t>u7w0lr 샘플은 4장의 원본 해상도가 서로 달라 격자 크기가 안 맞는다(motion_scores가 None 반환). 크래시 대신 cos+objectness만으로 조용히 폴백 — 실측 235개 샘플 중 22%가 이 경로를 탄다. 폴백이 걸려도 오른쪽처럼 KEPT 결과는 여전히 정상적으로 산출된다.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이터레이션 3 · 안전장치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맑은 고딕"/>
                <a:ea typeface="맑은 고딕"/>
              </a:rPr>
              <a:t>06 · 이터레이션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추가 예시 — 다른 장면에서도 같은 패턴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zOEYn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377" y="1527048"/>
            <a:ext cx="902094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733288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맑은 고딕"/>
                <a:ea typeface="맑은 고딕"/>
              </a:rPr>
              <a:t>zOEYn9 · “면도하는 남성” — 여기서도 동일 패턴: 정적 배경(타일·거울 프레임)은 페이드, 움직이는 손·면도날·얼굴 각도 변화는 kept로 유지된다.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추가 예시  ·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맑은 고딕"/>
                <a:ea typeface="맑은 고딕"/>
              </a:rPr>
              <a:t>06 · 이터레이션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검증 범위 요약 — 13개 샘플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27048"/>
          <a:ext cx="11185853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8673"/>
                <a:gridCol w="6279778"/>
                <a:gridCol w="2747402"/>
              </a:tblGrid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샘플 ID</a:t>
                      </a:r>
                    </a:p>
                  </a:txBody>
                  <a:tcPr anchor="ctr" marT="50800" marB="50800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캡션 요약</a:t>
                      </a:r>
                    </a:p>
                  </a:txBody>
                  <a:tcPr anchor="ctr" marT="50800" marB="50800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모션 신호 상태</a:t>
                      </a:r>
                    </a:p>
                  </a:txBody>
                  <a:tcPr anchor="ctr" marT="50800" marB="50800">
                    <a:solidFill>
                      <a:srgbClr val="0B0B0B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diZi5g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카메라 팬 · 낚시 구멍 → 스키어 점프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정상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u7w0lr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훌라후프 → 수영장 공놀이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폴백(그리드 불일치)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2vqGOF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여성 콘택트렌즈 → 아이 테이블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폴백(그리드 불일치)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9dFRMq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소녀가 일어나 거울을 봄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정상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9McP9b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래프팅 → 웨이크보드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정상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bjXxJi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제거 시연 → 결과 공개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정상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fmLrzl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소년이 수면 위로 헤엄침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정상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kr0LdM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롤러블레이드 시내 주행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정상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sGF4Eo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스키어가 나무 사이 → 슬로프 활강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정상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TcM3Gk</a:t>
                      </a:r>
                    </a:p>
                  </a:txBody>
                  <a:tcPr anchor="ctr" marT="38100" marB="38100">
                    <a:solidFill>
                      <a:srgbClr val="F4EC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역도 리프트 → 시상식 (HERO)</a:t>
                      </a:r>
                    </a:p>
                  </a:txBody>
                  <a:tcPr anchor="ctr" marT="38100" marB="38100">
                    <a:solidFill>
                      <a:srgbClr val="F4EC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정상</a:t>
                      </a:r>
                    </a:p>
                  </a:txBody>
                  <a:tcPr anchor="ctr" marT="38100" marB="38100">
                    <a:solidFill>
                      <a:srgbClr val="F4ECDA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yY2iit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스키 리프트 → 슬로프 하강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정상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zAZgkV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아이들 수영장 다이빙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정상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</a:tr>
              <a:tr h="306979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zOEYn9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면도 → 거울 확인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정상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916168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98781"/>
                </a:solidFill>
                <a:latin typeface="맑은 고딕"/>
                <a:ea typeface="맑은 고딕"/>
              </a:rPr>
              <a:t>11개 정상(live) · 2개 그리드-불일치 폴백(22%대와 정합) · 0개 크래시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검증 범위  ·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AF7A"/>
                </a:solidFill>
                <a:latin typeface="맑은 고딕"/>
                <a:ea typeface="맑은 고딕"/>
              </a:rPr>
              <a:t>SECTION 3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743200"/>
            <a:ext cx="1118585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A100 학습 실황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94760"/>
            <a:ext cx="109343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B8BDB4"/>
                </a:solidFill>
                <a:latin typeface="맑은 고딕"/>
                <a:ea typeface="맑은 고딕"/>
              </a:rPr>
              <a:t>사용자 취침 중 자율 진행된 오늘 밤의 기록 — 예상 밖 실패 하나를 포함해서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12848"/>
            <a:ext cx="822960" cy="508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AF7A"/>
                </a:solidFill>
                <a:latin typeface="맑은 고딕"/>
                <a:ea typeface="맑은 고딕"/>
              </a:rPr>
              <a:t>07 · A100 학습 실황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환경 셋업 + 챔피언 재현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185855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80" b="0" i="0">
                <a:solidFill>
                  <a:srgbClr val="1BAF7A"/>
                </a:solidFill>
                <a:latin typeface="맑은 고딕"/>
                <a:ea typeface="맑은 고딕"/>
              </a:rPr>
              <a:t>●  </a:t>
            </a:r>
            <a:r>
              <a:rPr sz="1380" b="0" i="0">
                <a:solidFill>
                  <a:srgbClr val="0B0B0B"/>
                </a:solidFill>
                <a:latin typeface="맑은 고딕"/>
                <a:ea typeface="맑은 고딕"/>
              </a:rPr>
              <a:t>1×A100 80GB — 이전 2×A100 본런과 다른 박스(DDP 관련 함정 전부 비활성)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80" b="0" i="0">
                <a:solidFill>
                  <a:srgbClr val="1BAF7A"/>
                </a:solidFill>
                <a:latin typeface="맑은 고딕"/>
                <a:ea typeface="맑은 고딕"/>
              </a:rPr>
              <a:t>●  </a:t>
            </a:r>
            <a:r>
              <a:rPr sz="1380" b="0" i="0">
                <a:solidFill>
                  <a:srgbClr val="0B0B0B"/>
                </a:solidFill>
                <a:latin typeface="맑은 고딕"/>
                <a:ea typeface="맑은 고딕"/>
              </a:rPr>
              <a:t>데이터: Ver13/data 심링크, md5로 원본과 동일 확인 (train 9,535 / test 819)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80" b="0" i="0">
                <a:solidFill>
                  <a:srgbClr val="1BAF7A"/>
                </a:solidFill>
                <a:latin typeface="맑은 고딕"/>
                <a:ea typeface="맑은 고딕"/>
              </a:rPr>
              <a:t>●  </a:t>
            </a:r>
            <a:r>
              <a:rPr sz="1380" b="0" i="0">
                <a:solidFill>
                  <a:srgbClr val="0B0B0B"/>
                </a:solidFill>
                <a:latin typeface="맑은 고딕"/>
                <a:ea typeface="맑은 고딕"/>
              </a:rPr>
              <a:t>베이스 모델: Qwen3-VL-32B-Instruct-bnb-4bit HF 허브 신규 다운로드 (20GB·90초, sha 고정으로 가중치 동일성 보장)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80" b="0" i="0">
                <a:solidFill>
                  <a:srgbClr val="1BAF7A"/>
                </a:solidFill>
                <a:latin typeface="맑은 고딕"/>
                <a:ea typeface="맑은 고딕"/>
              </a:rPr>
              <a:t>●  </a:t>
            </a:r>
            <a:r>
              <a:rPr sz="1380" b="0" i="0">
                <a:solidFill>
                  <a:srgbClr val="0B0B0B"/>
                </a:solidFill>
                <a:latin typeface="맑은 고딕"/>
                <a:ea typeface="맑은 고딕"/>
              </a:rPr>
              <a:t>warm-start 어댑터: Ver8 챔피언 DPO-checkpoint-600 업로드 (537,005,424B · 896텐서 · NaN/영벡터 0건 · 노름 중앙값 2.37)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95928"/>
            <a:ext cx="11185855" cy="1051560"/>
          </a:xfrm>
          <a:prstGeom prst="roundRect">
            <a:avLst>
              <a:gd name="adj" fmla="val 9000"/>
            </a:avLst>
          </a:prstGeom>
          <a:solidFill>
            <a:srgbClr val="E9F7EC"/>
          </a:solidFill>
          <a:ln w="1651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15137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CA30C"/>
                </a:solidFill>
                <a:latin typeface="맑은 고딕"/>
                <a:ea typeface="맑은 고딕"/>
              </a:rPr>
              <a:t>챔피언 재현 — 10/10 완전 일치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80560"/>
            <a:ext cx="10637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B0B0B"/>
                </a:solidFill>
                <a:latin typeface="맑은 고딕"/>
                <a:ea typeface="맑은 고딕"/>
              </a:rPr>
              <a:t>파일이 있는지가 아니라 실제로 10샘플을 돌려서, 기존 챔피언 제출물과 바이트 단위로 같은 답이 나오는지 확인했다.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A100 · 환경/재현  ·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03B3B"/>
                </a:solidFill>
                <a:latin typeface="맑은 고딕"/>
                <a:ea typeface="맑은 고딕"/>
              </a:rPr>
              <a:t>07 · A100 학습 실황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예상 밖 — 전이 게이트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27048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B0B0B"/>
                </a:solidFill>
                <a:latin typeface="맑은 고딕"/>
                <a:ea typeface="맑은 고딕"/>
              </a:rPr>
              <a:t>10스텝 게이트 실측: ce 10.92(step1) → 8.55(step2-10 평균) ≫ 임계값 3.0 → 공식 FAIL(과금 보호 자동 중단)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167128"/>
          <a:ext cx="1118585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1434083"/>
                <a:gridCol w="1434083"/>
                <a:gridCol w="4589068"/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원인 분리 진단 변형</a:t>
                      </a:r>
                    </a:p>
                  </a:txBody>
                  <a:tcPr anchor="ctr" marT="50800" marB="50800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EM</a:t>
                      </a:r>
                    </a:p>
                  </a:txBody>
                  <a:tcPr anchor="ctr" marT="50800" marB="50800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pairwise</a:t>
                      </a:r>
                    </a:p>
                  </a:txBody>
                  <a:tcPr anchor="ctr" marT="50800" marB="50800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해석</a:t>
                      </a:r>
                    </a:p>
                  </a:txBody>
                  <a:tcPr anchor="ctr" marT="50800" marB="50800">
                    <a:solidFill>
                      <a:srgbClr val="0B0B0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A · 비프루닝 1.1MP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0.5625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0.8924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전이 실재(랜덤 pairwise 0.5)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A2 · 비프루닝 602,112px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0.5625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0.8924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해상도 이동 영향 0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B · 프루닝 · motion 0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0.5417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0.8750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프루닝 충격 −2pp뿐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C · 프루닝 · motion 0.3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0.5417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0.8681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B0B"/>
                          </a:solidFill>
                          <a:latin typeface="맑은 고딕"/>
                          <a:ea typeface="맑은 고딕"/>
                        </a:rPr>
                        <a:t>모션 keep-set, 기존과 동급</a:t>
                      </a:r>
                    </a:p>
                  </a:txBody>
                  <a:tcPr anchor="ctr" marT="38100" marB="38100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361688"/>
            <a:ext cx="11185855" cy="1051560"/>
          </a:xfrm>
          <a:prstGeom prst="roundRect">
            <a:avLst>
              <a:gd name="adj" fmla="val 8000"/>
            </a:avLst>
          </a:prstGeom>
          <a:solidFill>
            <a:srgbClr val="EEF1EC"/>
          </a:solidFill>
          <a:ln w="12700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526280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맑은 고딕"/>
                <a:ea typeface="맑은 고딕"/>
              </a:rPr>
              <a:t>결론: ce≈10은 “무전이”가 아니라 “프롬프트 이동 하의 확신-오보정” — CE는 보정에 민감하고 EM/쌍순서는 불변량이라 body의 순서판별 능력은 대부분 통과했다. 어댑터 손상·허브 스냅샷 변경·코드북 불일치·모션 코드 버그는 개별적으로 전부 기각.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A100 · 게이트 FAIL  ·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AF7A"/>
                </a:solidFill>
                <a:latin typeface="맑은 고딕"/>
                <a:ea typeface="맑은 고딕"/>
              </a:rPr>
              <a:t>07 · A100 학습 실황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판단 — SKIP_GATE + 더 엄격한 트립와이어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18585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1BAF7A"/>
                </a:solidFill>
                <a:latin typeface="맑은 고딕"/>
                <a:ea typeface="맑은 고딕"/>
              </a:rPr>
              <a:t>●  </a:t>
            </a:r>
            <a:r>
              <a:rPr sz="1450" b="0" i="0">
                <a:solidFill>
                  <a:srgbClr val="0B0B0B"/>
                </a:solidFill>
                <a:latin typeface="맑은 고딕"/>
                <a:ea typeface="맑은 고딕"/>
              </a:rPr>
              <a:t>결정: SNUAI_SKIP_GATE=1로 본런 진행 (레시피 자체는 무변경)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1BAF7A"/>
                </a:solidFill>
                <a:latin typeface="맑은 고딕"/>
                <a:ea typeface="맑은 고딕"/>
              </a:rPr>
              <a:t>●  </a:t>
            </a:r>
            <a:r>
              <a:rPr sz="1450" b="0" i="0">
                <a:solidFill>
                  <a:srgbClr val="0B0B0B"/>
                </a:solidFill>
                <a:latin typeface="맑은 고딕"/>
                <a:ea typeface="맑은 고딕"/>
              </a:rPr>
              <a:t>보호장치를 게이트보다 엄격한 지점으로 이동: step 200(≈1.8시간)에서 windowed ce ≥ 3.0이면 즉시 kill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1BAF7A"/>
                </a:solidFill>
                <a:latin typeface="맑은 고딕"/>
                <a:ea typeface="맑은 고딕"/>
              </a:rPr>
              <a:t>●  </a:t>
            </a:r>
            <a:r>
              <a:rPr sz="1450" b="0" i="0">
                <a:solidFill>
                  <a:srgbClr val="0B0B0B"/>
                </a:solidFill>
                <a:latin typeface="맑은 고딕"/>
                <a:ea typeface="맑은 고딕"/>
              </a:rPr>
              <a:t>근거: 게이트의 본래 목적(망한 전제에 13.5시간을 태우는 것 방지)은 위 진단으로 이미 달성됨 — 남은 리스크는 “적응 속도”뿐이라 학습 초반 곡선이 정확한 감시 지점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04488"/>
            <a:ext cx="11185855" cy="1051560"/>
          </a:xfrm>
          <a:prstGeom prst="roundRect">
            <a:avLst>
              <a:gd name="adj" fmla="val 9000"/>
            </a:avLst>
          </a:prstGeom>
          <a:solidFill>
            <a:srgbClr val="E9F7EC"/>
          </a:solidFill>
          <a:ln w="1651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059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CA30C"/>
                </a:solidFill>
                <a:latin typeface="맑은 고딕"/>
                <a:ea typeface="맑은 고딕"/>
              </a:rPr>
              <a:t>트립와이어 실측 (19:31 UTC)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70832"/>
            <a:ext cx="10637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B0B0B"/>
                </a:solidFill>
                <a:latin typeface="맑은 고딕"/>
                <a:ea typeface="맑은 고딕"/>
              </a:rPr>
              <a:t>step 200 windowed ce = </a:t>
            </a:r>
            <a:r>
              <a:rPr sz="1500" b="1" i="0">
                <a:solidFill>
                  <a:srgbClr val="0CA30C"/>
                </a:solidFill>
                <a:latin typeface="맑은 고딕"/>
                <a:ea typeface="맑은 고딕"/>
              </a:rPr>
              <a:t>1.672 &lt; 3.0 → PASS</a:t>
            </a:r>
            <a:r>
              <a:rPr sz="1300" b="0" i="0">
                <a:solidFill>
                  <a:srgbClr val="52514E"/>
                </a:solidFill>
                <a:latin typeface="맑은 고딕"/>
                <a:ea typeface="맑은 고딕"/>
              </a:rPr>
              <a:t>  (acc 0.519, checkpoint-200 저장)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A100 · 판단  ·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AF7A"/>
                </a:solidFill>
                <a:latin typeface="맑은 고딕"/>
                <a:ea typeface="맑은 고딕"/>
              </a:rPr>
              <a:t>07 · A100 학습 실황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학습 곡선 — step 1 → 1,050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553" y="1572768"/>
            <a:ext cx="8192588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001768"/>
            <a:ext cx="11185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맑은 고딕"/>
                <a:ea typeface="맑은 고딕"/>
              </a:rPr>
              <a:t>300스텝 이후 일시 평탄화(ce 1.45~1.51)는 병리적 정체(ln24≈3.18, 훨씬 위)와 무관 — body-lr이 코사인 감쇠로 줄어드는 관성적 현상으로 설명되며, 600스텝 이후 재차 개선(ce 1.30→1.22)이 확인돼 “조치 불필요, 본런 지속” 판정이 두 차례 재확인됐다.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A100 · 학습 곡선  ·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8790C"/>
                </a:solidFill>
                <a:latin typeface="맑은 고딕"/>
                <a:ea typeface="맑은 고딕"/>
              </a:rPr>
              <a:t>08 · 현재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지금 이 순간(2026-07-22 21시경) 상태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185855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B8790C"/>
                </a:solidFill>
                <a:latin typeface="맑은 고딕"/>
                <a:ea typeface="맑은 고딕"/>
              </a:rPr>
              <a:t>●  </a:t>
            </a:r>
            <a:r>
              <a:rPr sz="1400" b="0" i="0">
                <a:solidFill>
                  <a:srgbClr val="0B0B0B"/>
                </a:solidFill>
                <a:latin typeface="맑은 고딕"/>
                <a:ea typeface="맑은 고딕"/>
              </a:rPr>
              <a:t>학습: checkpoint-1200 + 300스텝 추가 연장(“reheat”, adapter_final) 확보, dev box로 싱크 완료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B8790C"/>
                </a:solidFill>
                <a:latin typeface="맑은 고딕"/>
                <a:ea typeface="맑은 고딕"/>
              </a:rPr>
              <a:t>●  </a:t>
            </a:r>
            <a:r>
              <a:rPr sz="1400" b="0" i="0">
                <a:solidFill>
                  <a:srgbClr val="0B0B0B"/>
                </a:solidFill>
                <a:latin typeface="맑은 고딕"/>
                <a:ea typeface="맑은 고딕"/>
              </a:rPr>
              <a:t>로컬(RTX 4090)에서 실제 test 819건 평가 체인 착수 — reheat 후보부터 시작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B8790C"/>
                </a:solidFill>
                <a:latin typeface="맑은 고딕"/>
                <a:ea typeface="맑은 고딕"/>
              </a:rPr>
              <a:t>●  </a:t>
            </a:r>
            <a:r>
              <a:rPr sz="1400" b="0" i="0">
                <a:solidFill>
                  <a:srgbClr val="0B0B0B"/>
                </a:solidFill>
                <a:latin typeface="맑은 고딕"/>
                <a:ea typeface="맑은 고딕"/>
              </a:rPr>
              <a:t>진행 중 로컬 머신이 재부팅되며(가동시간 12분 확인) 체인이 16/819에서 중단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B8790C"/>
                </a:solidFill>
                <a:latin typeface="맑은 고딕"/>
                <a:ea typeface="맑은 고딕"/>
              </a:rPr>
              <a:t>●  </a:t>
            </a:r>
            <a:r>
              <a:rPr sz="1400" b="0" i="0">
                <a:solidFill>
                  <a:srgbClr val="0B0B0B"/>
                </a:solidFill>
                <a:latin typeface="맑은 고딕"/>
                <a:ea typeface="맑은 고딕"/>
              </a:rPr>
              <a:t>안전 하한: 기존 motion=0 베이스라인(adapter_final, key v13 est 0.9011) 대비 이번 모션 후보들의 실제 우열은 아직 미확정 — 추정치를 만들어 보고하지 않음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270248"/>
            <a:ext cx="11185855" cy="1143000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16510">
            <a:solidFill>
              <a:srgbClr val="B87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44398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8790C"/>
                </a:solidFill>
                <a:latin typeface="맑은 고딕"/>
                <a:ea typeface="맑은 고딕"/>
              </a:rPr>
              <a:t>다음 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73168"/>
            <a:ext cx="1063721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B0B0B"/>
                </a:solidFill>
                <a:latin typeface="맑은 고딕"/>
                <a:ea typeface="맑은 고딕"/>
              </a:rPr>
              <a:t>평가 체인 재개 → reheat / checkpoint-1200 두 후보 test 819건 완주 → grade.py 채점 → 0.9011 대비 판정(그 이상이어야 “성공”으로 보고)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현재 상태  ·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CABEC"/>
                </a:solidFill>
                <a:latin typeface="맑은 고딕"/>
                <a:ea typeface="맑은 고딕"/>
              </a:rPr>
              <a:t>종합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</a:rPr>
              <a:t>이 트랙이 갖는 가치</a:t>
            </a:r>
          </a:p>
        </p:txBody>
      </p:sp>
      <p:sp>
        <p:nvSpPr>
          <p:cNvPr id="5" name="Oval 4"/>
          <p:cNvSpPr/>
          <p:nvPr/>
        </p:nvSpPr>
        <p:spPr>
          <a:xfrm>
            <a:off x="521208" y="1764792"/>
            <a:ext cx="128016" cy="128016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8CABEC"/>
                </a:solidFill>
                <a:latin typeface="맑은 고딕"/>
                <a:ea typeface="맑은 고딕"/>
              </a:rPr>
              <a:t>리더보드 순위와 별개로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40" y="1673352"/>
            <a:ext cx="7711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E7E5DE"/>
                </a:solidFill>
                <a:latin typeface="맑은 고딕"/>
                <a:ea typeface="맑은 고딕"/>
              </a:rPr>
              <a:t>가설 → 구현 → 버그 발견 → 원인 분석 → 수정 → 재검증 → 확장이라는 완결된 R&amp;D 사이클</a:t>
            </a:r>
          </a:p>
        </p:txBody>
      </p:sp>
      <p:sp>
        <p:nvSpPr>
          <p:cNvPr id="8" name="Oval 7"/>
          <p:cNvSpPr/>
          <p:nvPr/>
        </p:nvSpPr>
        <p:spPr>
          <a:xfrm>
            <a:off x="521208" y="2935224"/>
            <a:ext cx="128016" cy="128016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62072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8CABEC"/>
                </a:solidFill>
                <a:latin typeface="맑은 고딕"/>
                <a:ea typeface="맑은 고딕"/>
              </a:rPr>
              <a:t>실물 증거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2843784"/>
            <a:ext cx="7711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E7E5DE"/>
                </a:solidFill>
                <a:latin typeface="맑은 고딕"/>
                <a:ea typeface="맑은 고딕"/>
              </a:rPr>
              <a:t>두 번의 실제 버그(anisotropy · stuff-over-things)를 시각화로 직접 잡아내고 고친 기록이 runs/prune_viz에 그대로 남아있음</a:t>
            </a:r>
          </a:p>
        </p:txBody>
      </p:sp>
      <p:sp>
        <p:nvSpPr>
          <p:cNvPr id="11" name="Oval 10"/>
          <p:cNvSpPr/>
          <p:nvPr/>
        </p:nvSpPr>
        <p:spPr>
          <a:xfrm>
            <a:off x="521208" y="4105656"/>
            <a:ext cx="128016" cy="128016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32504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8CABEC"/>
                </a:solidFill>
                <a:latin typeface="맑은 고딕"/>
                <a:ea typeface="맑은 고딕"/>
              </a:rPr>
              <a:t>본선 배점과의 정합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4014216"/>
            <a:ext cx="7711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E7E5DE"/>
                </a:solidFill>
                <a:latin typeface="맑은 고딕"/>
                <a:ea typeface="맑은 고딕"/>
              </a:rPr>
              <a:t>예선정확도 40 + 데이터활용 15 + 모델설계 15 + 최적화 10 + 자원효율 10 + 비용 10 — 정확도 외 60점이 이런 설계·분석 스토리에 열려 있음</a:t>
            </a:r>
          </a:p>
        </p:txBody>
      </p:sp>
      <p:sp>
        <p:nvSpPr>
          <p:cNvPr id="14" name="Oval 13"/>
          <p:cNvSpPr/>
          <p:nvPr/>
        </p:nvSpPr>
        <p:spPr>
          <a:xfrm>
            <a:off x="521208" y="5276088"/>
            <a:ext cx="128016" cy="128016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202936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8CABEC"/>
                </a:solidFill>
                <a:latin typeface="맑은 고딕"/>
                <a:ea typeface="맑은 고딕"/>
              </a:rPr>
              <a:t>안전망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5184648"/>
            <a:ext cx="7711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E7E5DE"/>
                </a:solidFill>
                <a:latin typeface="맑은 고딕"/>
                <a:ea typeface="맑은 고딕"/>
              </a:rPr>
              <a:t>현재 대회 챔피언(Ver8, LB 0.93019)은 이 트랙과 무관하게 안전하게 서 있음 — Ver11은 순수 상방 시도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종합  ·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맑은 고딕"/>
                <a:ea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맑은 고딕"/>
                <a:ea typeface="맑은 고딕"/>
              </a:rPr>
              <a:t>근거 자료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85855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2704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78D6"/>
                </a:solidFill>
                <a:latin typeface="맑은 고딕"/>
                <a:ea typeface="맑은 고딕"/>
              </a:rPr>
              <a:t>코드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92808"/>
            <a:ext cx="5120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250" b="0" i="0">
                <a:solidFill>
                  <a:srgbClr val="0B0B0B"/>
                </a:solidFill>
                <a:latin typeface="맑은 고딕"/>
                <a:ea typeface="맑은 고딕"/>
              </a:rPr>
              <a:t>src/snuai11/fitprune.py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250" b="0" i="0">
                <a:solidFill>
                  <a:srgbClr val="0B0B0B"/>
                </a:solidFill>
                <a:latin typeface="맑은 고딕"/>
                <a:ea typeface="맑은 고딕"/>
              </a:rPr>
              <a:t>src/snuai11/vlm.py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250" b="0" i="0">
                <a:solidFill>
                  <a:srgbClr val="0B0B0B"/>
                </a:solidFill>
                <a:latin typeface="맑은 고딕"/>
                <a:ea typeface="맑은 고딕"/>
              </a:rPr>
              <a:t>scripts/visualize_prune.py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250" b="0" i="0">
                <a:solidFill>
                  <a:srgbClr val="0B0B0B"/>
                </a:solidFill>
                <a:latin typeface="맑은 고딕"/>
                <a:ea typeface="맑은 고딕"/>
              </a:rPr>
              <a:t>scripts/measure_motion_signal.py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8444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78D6"/>
                </a:solidFill>
                <a:latin typeface="맑은 고딕"/>
                <a:ea typeface="맑은 고딕"/>
              </a:rPr>
              <a:t>문서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50208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250" b="0" i="0">
                <a:solidFill>
                  <a:srgbClr val="0B0B0B"/>
                </a:solidFill>
                <a:latin typeface="맑은 고딕"/>
                <a:ea typeface="맑은 고딕"/>
              </a:rPr>
              <a:t>docs/fitprune_fix_2026-07-16.md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250" b="0" i="0">
                <a:solidFill>
                  <a:srgbClr val="0B0B0B"/>
                </a:solidFill>
                <a:latin typeface="맑은 고딕"/>
                <a:ea typeface="맑은 고딕"/>
              </a:rPr>
              <a:t>docs/motion_prune_implementation_plan_2026-07-22.md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250" b="0" i="0">
                <a:solidFill>
                  <a:srgbClr val="0B0B0B"/>
                </a:solidFill>
                <a:latin typeface="맑은 고딕"/>
                <a:ea typeface="맑은 고딕"/>
              </a:rPr>
              <a:t>docs/session_2026-07-22_motion_run.md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250" b="0" i="0">
                <a:solidFill>
                  <a:srgbClr val="0B0B0B"/>
                </a:solidFill>
                <a:latin typeface="맑은 고딕"/>
                <a:ea typeface="맑은 고딕"/>
              </a:rPr>
              <a:t>docs/postmortem_2026-07-21_a100_and_plan.md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2704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78D6"/>
                </a:solidFill>
                <a:latin typeface="맑은 고딕"/>
                <a:ea typeface="맑은 고딕"/>
              </a:rPr>
              <a:t>시각화 원본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92808"/>
            <a:ext cx="5394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250" b="0" i="0">
                <a:solidFill>
                  <a:srgbClr val="0B0B0B"/>
                </a:solidFill>
                <a:latin typeface="맑은 고딕"/>
                <a:ea typeface="맑은 고딕"/>
              </a:rPr>
              <a:t>runs/prune_viz/  (2026-07-16, 3건)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250" b="0" i="0">
                <a:solidFill>
                  <a:srgbClr val="0B0B0B"/>
                </a:solidFill>
                <a:latin typeface="맑은 고딕"/>
                <a:ea typeface="맑은 고딕"/>
              </a:rPr>
              <a:t>runs/prune_viz_recheck_2026-07-22/  (회귀검증, 3건)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250" b="0" i="0">
                <a:solidFill>
                  <a:srgbClr val="0B0B0B"/>
                </a:solidFill>
                <a:latin typeface="맑은 고딕"/>
                <a:ea typeface="맑은 고딕"/>
              </a:rPr>
              <a:t>runs/prune_viz_motion_2026-07-22/  (모션 적용, 3건)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A78D6"/>
                </a:solidFill>
                <a:latin typeface="맑은 고딕"/>
                <a:ea typeface="맑은 고딕"/>
              </a:rPr>
              <a:t>●  </a:t>
            </a:r>
            <a:r>
              <a:rPr sz="1250" b="0" i="0">
                <a:solidFill>
                  <a:srgbClr val="0B0B0B"/>
                </a:solidFill>
                <a:latin typeface="맑은 고딕"/>
                <a:ea typeface="맑은 고딕"/>
              </a:rPr>
              <a:t>runs/prune_viz_tail_2026-07-22/  (확장 검증, 10건)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813048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995928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898781"/>
                </a:solidFill>
                <a:latin typeface="맑은 고딕"/>
                <a:ea typeface="맑은 고딕"/>
              </a:rPr>
              <a:t>이 문서 작성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0B0B0B"/>
                </a:solidFill>
                <a:latin typeface="맑은 고딕"/>
                <a:ea typeface="맑은 고딕"/>
              </a:rPr>
              <a:t>2026-07-22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맑은 고딕"/>
                <a:ea typeface="맑은 고딕"/>
              </a:rPr>
              <a:t>예선 마감 2026-07-24 23:59 (D-2)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Ver11 — SNU AI Challenge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98781"/>
                </a:solidFill>
                <a:latin typeface="맑은 고딕"/>
                <a:ea typeface="맑은 고딕"/>
              </a:rPr>
              <a:t>부록  · 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